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Helvetica Neue"/>
      <p:regular r:id="rId17"/>
      <p:bold r:id="rId18"/>
      <p:italic r:id="rId19"/>
      <p:boldItalic r:id="rId20"/>
    </p:embeddedFont>
    <p:embeddedFont>
      <p:font typeface="Roboto Mon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CF5873-4354-4C39-A1E6-42D8CE9EEDEF}">
  <a:tblStyle styleId="{84CF5873-4354-4C39-A1E6-42D8CE9EEDE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boldItalic.fntdata"/><Relationship Id="rId11" Type="http://schemas.openxmlformats.org/officeDocument/2006/relationships/slide" Target="slides/slide5.xml"/><Relationship Id="rId22" Type="http://schemas.openxmlformats.org/officeDocument/2006/relationships/font" Target="fonts/RobotoMono-bold.fntdata"/><Relationship Id="rId10" Type="http://schemas.openxmlformats.org/officeDocument/2006/relationships/slide" Target="slides/slide4.xml"/><Relationship Id="rId21" Type="http://schemas.openxmlformats.org/officeDocument/2006/relationships/font" Target="fonts/RobotoMono-regular.fntdata"/><Relationship Id="rId13" Type="http://schemas.openxmlformats.org/officeDocument/2006/relationships/slide" Target="slides/slide7.xml"/><Relationship Id="rId24" Type="http://schemas.openxmlformats.org/officeDocument/2006/relationships/font" Target="fonts/RobotoMono-boldItalic.fntdata"/><Relationship Id="rId12" Type="http://schemas.openxmlformats.org/officeDocument/2006/relationships/slide" Target="slides/slide6.xml"/><Relationship Id="rId23"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HelveticaNeue-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HelveticaNeue-italic.fntdata"/><Relationship Id="rId6" Type="http://schemas.openxmlformats.org/officeDocument/2006/relationships/notesMaster" Target="notesMasters/notesMaster1.xml"/><Relationship Id="rId18" Type="http://schemas.openxmlformats.org/officeDocument/2006/relationships/font" Target="fonts/HelveticaNeue-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27f3d50f1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27f3d50f1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e640a5c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ce640a5c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e640a5c7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e640a5c7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Before extracting any features, we first clean up the raw waveform by trimming low-energy regions from the beginning and end.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motivation is that different recordings can contain different amounts of dead space before the speaker starts and after they finish. That variation is not part of the spoken digit, but if we leave it in, the feature extractor will still process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here, we apply boundary trimming using </a:t>
            </a:r>
            <a:r>
              <a:rPr lang="en">
                <a:solidFill>
                  <a:schemeClr val="dk1"/>
                </a:solidFill>
                <a:latin typeface="Roboto Mono"/>
                <a:ea typeface="Roboto Mono"/>
                <a:cs typeface="Roboto Mono"/>
                <a:sym typeface="Roboto Mono"/>
              </a:rPr>
              <a:t>librosa.effects.trim</a:t>
            </a:r>
            <a:r>
              <a:rPr lang="en">
                <a:solidFill>
                  <a:schemeClr val="dk1"/>
                </a:solidFill>
              </a:rPr>
              <a:t> with </a:t>
            </a:r>
            <a:r>
              <a:rPr lang="en">
                <a:solidFill>
                  <a:schemeClr val="dk1"/>
                </a:solidFill>
                <a:latin typeface="Roboto Mono"/>
                <a:ea typeface="Roboto Mono"/>
                <a:cs typeface="Roboto Mono"/>
                <a:sym typeface="Roboto Mono"/>
              </a:rPr>
              <a:t>top_db = 40</a:t>
            </a:r>
            <a:r>
              <a:rPr lang="en">
                <a:solidFill>
                  <a:schemeClr val="dk1"/>
                </a:solidFill>
              </a:rPr>
              <a:t>. Conceptually, this removes leading and trailing regions whose energy is far below the main signal level.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point is that this is a conservative preprocessing step. We are not doing full voice activity detection, and we are not trying to remove pauses inside the word. We are mainly just cutting off obvious silence at the edges.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helps in two ways. First, it reduces padding variability across recordings, so different samples are more aligned in terms of where the actual speech occurs. Second, it makes downstream feature extraction more speech-focused, because more of the frames now contain useful speech information instead of silence.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chose </a:t>
            </a:r>
            <a:r>
              <a:rPr lang="en">
                <a:solidFill>
                  <a:schemeClr val="dk1"/>
                </a:solidFill>
                <a:latin typeface="Roboto Mono"/>
                <a:ea typeface="Roboto Mono"/>
                <a:cs typeface="Roboto Mono"/>
                <a:sym typeface="Roboto Mono"/>
              </a:rPr>
              <a:t>top_db = 40</a:t>
            </a:r>
            <a:r>
              <a:rPr lang="en">
                <a:solidFill>
                  <a:schemeClr val="dk1"/>
                </a:solidFill>
              </a:rPr>
              <a:t> to avoid being too aggressive. That matters especially in noisy conditions, like 5 dB SNR, where parts of the speech may already be weak. So the tradeoff here is: remove clear non-informative boundaries, but preserve as much real speech as possible.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there is a guard case in the code: if trimming removes everything, or if the input is empty, we return a zero feature tensor of the expected shape. That keeps the pipeline robust and ensures the classifier always receives a valid input.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e444555a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e444555a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trimming, we convert the waveform into a mel spectrogram, which gives us energy over time in perceptually spaced frequency bands. That is the first matrix, E(t,f)E(t,f), shown here. The issue is that this representation still contains a lot of steady background energy, so the speech structure is not as cleanly separated as we would like.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address that, we smooth each mel band over time using a first-order IIR-style update. This produces a second matrix, M(t,f)M(t,f), which acts as a running baseline or recent typical energy level for each band.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then normalize the current mel energy relative to that baseline. So instead of caring about absolute energy, the feature now cares more about energy that stands out above what has recently been normal in that band. That suppresses steady background and makes speech-driven changes more prominent.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we apply nonlinear compression to reduce dynamic range. This prevents very large peaks from dominating the representation and helps preserve weaker but still informative parts of speech. The end result is a more balanced and noise-robust feature, which is why PCEN helps so much in our noisy spoken-digit setting.</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e444555a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ce444555a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Helvetica Neue"/>
                <a:ea typeface="Helvetica Neue"/>
                <a:cs typeface="Helvetica Neue"/>
                <a:sym typeface="Helvetica Neue"/>
              </a:rPr>
              <a:t>Definition: </a:t>
            </a:r>
            <a:r>
              <a:rPr lang="en">
                <a:solidFill>
                  <a:schemeClr val="dk1"/>
                </a:solidFill>
                <a:latin typeface="Helvetica Neue"/>
                <a:ea typeface="Helvetica Neue"/>
                <a:cs typeface="Helvetica Neue"/>
                <a:sym typeface="Helvetica Neue"/>
              </a:rPr>
              <a:t>The </a:t>
            </a:r>
            <a:r>
              <a:rPr b="1" lang="en">
                <a:solidFill>
                  <a:schemeClr val="dk1"/>
                </a:solidFill>
                <a:latin typeface="Helvetica Neue"/>
                <a:ea typeface="Helvetica Neue"/>
                <a:cs typeface="Helvetica Neue"/>
                <a:sym typeface="Helvetica Neue"/>
              </a:rPr>
              <a:t>Mel scale</a:t>
            </a:r>
            <a:r>
              <a:rPr lang="en">
                <a:solidFill>
                  <a:schemeClr val="dk1"/>
                </a:solidFill>
                <a:latin typeface="Helvetica Neue"/>
                <a:ea typeface="Helvetica Neue"/>
                <a:cs typeface="Helvetica Neue"/>
                <a:sym typeface="Helvetica Neue"/>
              </a:rPr>
              <a:t> is a perceptual scale of pitch that reflects how humans perceive differences in sound frequency. MFCC uses </a:t>
            </a:r>
            <a:r>
              <a:rPr b="1" lang="en">
                <a:solidFill>
                  <a:schemeClr val="dk1"/>
                </a:solidFill>
                <a:latin typeface="Helvetica Neue"/>
                <a:ea typeface="Helvetica Neue"/>
                <a:cs typeface="Helvetica Neue"/>
                <a:sym typeface="Helvetica Neue"/>
              </a:rPr>
              <a:t>Mel filterbanks</a:t>
            </a:r>
            <a:r>
              <a:rPr lang="en">
                <a:solidFill>
                  <a:schemeClr val="dk1"/>
                </a:solidFill>
                <a:latin typeface="Helvetica Neue"/>
                <a:ea typeface="Helvetica Neue"/>
                <a:cs typeface="Helvetica Neue"/>
                <a:sym typeface="Helvetica Neue"/>
              </a:rPr>
              <a:t>, which use space frequency bands according to the Mel scale. This ensures the extracted features emphasize frequencies </a:t>
            </a:r>
            <a:r>
              <a:rPr b="1" lang="en">
                <a:solidFill>
                  <a:schemeClr val="dk1"/>
                </a:solidFill>
                <a:latin typeface="Helvetica Neue"/>
                <a:ea typeface="Helvetica Neue"/>
                <a:cs typeface="Helvetica Neue"/>
                <a:sym typeface="Helvetica Neue"/>
              </a:rPr>
              <a:t>important for human speech perception</a:t>
            </a:r>
            <a:r>
              <a:rPr lang="en">
                <a:solidFill>
                  <a:schemeClr val="dk1"/>
                </a:solidFill>
                <a:latin typeface="Helvetica Neue"/>
                <a:ea typeface="Helvetica Neue"/>
                <a:cs typeface="Helvetica Neue"/>
                <a:sym typeface="Helvetica Neue"/>
              </a:rPr>
              <a:t>, improving performance in speech recognition tasks.</a:t>
            </a:r>
            <a:endParaRPr>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lang="en">
                <a:solidFill>
                  <a:schemeClr val="dk1"/>
                </a:solidFill>
                <a:latin typeface="Helvetica Neue"/>
                <a:ea typeface="Helvetica Neue"/>
                <a:cs typeface="Helvetica Neue"/>
                <a:sym typeface="Helvetica Neue"/>
              </a:rPr>
              <a:t>Mel-Frequency Cepstral Coefficients (MFCCs) are features that describe the </a:t>
            </a:r>
            <a:r>
              <a:rPr b="1" lang="en">
                <a:solidFill>
                  <a:schemeClr val="dk1"/>
                </a:solidFill>
                <a:latin typeface="Helvetica Neue"/>
                <a:ea typeface="Helvetica Neue"/>
                <a:cs typeface="Helvetica Neue"/>
                <a:sym typeface="Helvetica Neue"/>
              </a:rPr>
              <a:t>spectral envelope of speech</a:t>
            </a:r>
            <a:r>
              <a:rPr lang="en">
                <a:solidFill>
                  <a:schemeClr val="dk1"/>
                </a:solidFill>
                <a:latin typeface="Helvetica Neue"/>
                <a:ea typeface="Helvetica Neue"/>
                <a:cs typeface="Helvetica Neue"/>
                <a:sym typeface="Helvetica Neue"/>
              </a:rPr>
              <a:t> using a perceptually motivated frequency scale. They approximate how the </a:t>
            </a:r>
            <a:r>
              <a:rPr b="1" lang="en">
                <a:solidFill>
                  <a:schemeClr val="dk1"/>
                </a:solidFill>
                <a:latin typeface="Helvetica Neue"/>
                <a:ea typeface="Helvetica Neue"/>
                <a:cs typeface="Helvetica Neue"/>
                <a:sym typeface="Helvetica Neue"/>
              </a:rPr>
              <a:t>human ear processes sound frequencies</a:t>
            </a:r>
            <a:r>
              <a:rPr lang="en">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b="1" lang="en">
                <a:solidFill>
                  <a:schemeClr val="dk1"/>
                </a:solidFill>
                <a:latin typeface="Helvetica Neue"/>
                <a:ea typeface="Helvetica Neue"/>
                <a:cs typeface="Helvetica Neue"/>
                <a:sym typeface="Helvetica Neue"/>
              </a:rPr>
              <a:t>MFCC Extraction Pipeline</a:t>
            </a:r>
            <a:endParaRPr b="1">
              <a:solidFill>
                <a:schemeClr val="dk1"/>
              </a:solidFill>
              <a:latin typeface="Helvetica Neue"/>
              <a:ea typeface="Helvetica Neue"/>
              <a:cs typeface="Helvetica Neue"/>
              <a:sym typeface="Helvetica Neue"/>
            </a:endParaRPr>
          </a:p>
          <a:p>
            <a:pPr indent="-298450" lvl="0" marL="457200" rtl="0" algn="l">
              <a:lnSpc>
                <a:spcPct val="115000"/>
              </a:lnSpc>
              <a:spcBef>
                <a:spcPts val="1200"/>
              </a:spcBef>
              <a:spcAft>
                <a:spcPts val="0"/>
              </a:spcAft>
              <a:buClr>
                <a:schemeClr val="dk1"/>
              </a:buClr>
              <a:buSzPts val="1100"/>
              <a:buFont typeface="Helvetica Neue"/>
              <a:buAutoNum type="arabicPeriod"/>
            </a:pPr>
            <a:r>
              <a:rPr b="1" lang="en">
                <a:solidFill>
                  <a:schemeClr val="dk1"/>
                </a:solidFill>
                <a:latin typeface="Helvetica Neue"/>
                <a:ea typeface="Helvetica Neue"/>
                <a:cs typeface="Helvetica Neue"/>
                <a:sym typeface="Helvetica Neue"/>
              </a:rPr>
              <a:t>Framing</a:t>
            </a:r>
            <a:endParaRPr b="1">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a:solidFill>
                  <a:schemeClr val="dk1"/>
                </a:solidFill>
                <a:latin typeface="Helvetica Neue"/>
                <a:ea typeface="Helvetica Neue"/>
                <a:cs typeface="Helvetica Neue"/>
                <a:sym typeface="Helvetica Neue"/>
              </a:rPr>
              <a:t>Split audio into short windows (~25 ms)</a:t>
            </a:r>
            <a:endParaRPr>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AutoNum type="arabicPeriod"/>
            </a:pPr>
            <a:r>
              <a:rPr b="1" lang="en">
                <a:solidFill>
                  <a:schemeClr val="dk1"/>
                </a:solidFill>
                <a:latin typeface="Helvetica Neue"/>
                <a:ea typeface="Helvetica Neue"/>
                <a:cs typeface="Helvetica Neue"/>
                <a:sym typeface="Helvetica Neue"/>
              </a:rPr>
              <a:t>Fourier Transform</a:t>
            </a:r>
            <a:endParaRPr b="1">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Char char="○"/>
            </a:pPr>
            <a:r>
              <a:rPr lang="en">
                <a:solidFill>
                  <a:schemeClr val="dk1"/>
                </a:solidFill>
                <a:latin typeface="Helvetica Neue"/>
                <a:ea typeface="Helvetica Neue"/>
                <a:cs typeface="Helvetica Neue"/>
                <a:sym typeface="Helvetica Neue"/>
              </a:rPr>
              <a:t>Convert each frame from the time domain to the </a:t>
            </a:r>
            <a:r>
              <a:rPr b="1" lang="en">
                <a:solidFill>
                  <a:schemeClr val="dk1"/>
                </a:solidFill>
                <a:latin typeface="Helvetica Neue"/>
                <a:ea typeface="Helvetica Neue"/>
                <a:cs typeface="Helvetica Neue"/>
                <a:sym typeface="Helvetica Neue"/>
              </a:rPr>
              <a:t>frequency spectrum</a:t>
            </a:r>
            <a:endParaRPr b="1">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AutoNum type="arabicPeriod"/>
            </a:pPr>
            <a:r>
              <a:rPr b="1" lang="en">
                <a:solidFill>
                  <a:schemeClr val="dk1"/>
                </a:solidFill>
                <a:latin typeface="Helvetica Neue"/>
                <a:ea typeface="Helvetica Neue"/>
                <a:cs typeface="Helvetica Neue"/>
                <a:sym typeface="Helvetica Neue"/>
              </a:rPr>
              <a:t>Mel Filterbank</a:t>
            </a:r>
            <a:endParaRPr b="1">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Char char="○"/>
            </a:pPr>
            <a:r>
              <a:rPr lang="en">
                <a:solidFill>
                  <a:schemeClr val="dk1"/>
                </a:solidFill>
                <a:latin typeface="Helvetica Neue"/>
                <a:ea typeface="Helvetica Neue"/>
                <a:cs typeface="Helvetica Neue"/>
                <a:sym typeface="Helvetica Neue"/>
              </a:rPr>
              <a:t>Group frequencies using the </a:t>
            </a:r>
            <a:r>
              <a:rPr b="1" lang="en">
                <a:solidFill>
                  <a:schemeClr val="dk1"/>
                </a:solidFill>
                <a:latin typeface="Helvetica Neue"/>
                <a:ea typeface="Helvetica Neue"/>
                <a:cs typeface="Helvetica Neue"/>
                <a:sym typeface="Helvetica Neue"/>
              </a:rPr>
              <a:t>Mel scale</a:t>
            </a:r>
            <a:r>
              <a:rPr lang="en">
                <a:solidFill>
                  <a:schemeClr val="dk1"/>
                </a:solidFill>
                <a:latin typeface="Helvetica Neue"/>
                <a:ea typeface="Helvetica Neue"/>
                <a:cs typeface="Helvetica Neue"/>
                <a:sym typeface="Helvetica Neue"/>
              </a:rPr>
              <a:t>, which matches human hearing sensitivity</a:t>
            </a:r>
            <a:endParaRPr>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AutoNum type="arabicPeriod"/>
            </a:pPr>
            <a:r>
              <a:rPr b="1" lang="en">
                <a:solidFill>
                  <a:schemeClr val="dk1"/>
                </a:solidFill>
                <a:latin typeface="Helvetica Neue"/>
                <a:ea typeface="Helvetica Neue"/>
                <a:cs typeface="Helvetica Neue"/>
                <a:sym typeface="Helvetica Neue"/>
              </a:rPr>
              <a:t>Log Compression</a:t>
            </a:r>
            <a:endParaRPr b="1">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a:solidFill>
                  <a:schemeClr val="dk1"/>
                </a:solidFill>
                <a:latin typeface="Helvetica Neue"/>
                <a:ea typeface="Helvetica Neue"/>
                <a:cs typeface="Helvetica Neue"/>
                <a:sym typeface="Helvetica Neue"/>
              </a:rPr>
              <a:t>Apply log to mimic human loudness perception</a:t>
            </a:r>
            <a:endParaRPr>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AutoNum type="arabicPeriod"/>
            </a:pPr>
            <a:r>
              <a:rPr b="1" lang="en">
                <a:solidFill>
                  <a:schemeClr val="dk1"/>
                </a:solidFill>
                <a:latin typeface="Helvetica Neue"/>
                <a:ea typeface="Helvetica Neue"/>
                <a:cs typeface="Helvetica Neue"/>
                <a:sym typeface="Helvetica Neue"/>
              </a:rPr>
              <a:t>Discrete Cosine Transform (DCT)</a:t>
            </a:r>
            <a:endParaRPr b="1">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Char char="○"/>
            </a:pPr>
            <a:r>
              <a:rPr lang="en">
                <a:solidFill>
                  <a:schemeClr val="dk1"/>
                </a:solidFill>
                <a:latin typeface="Helvetica Neue"/>
                <a:ea typeface="Helvetica Neue"/>
                <a:cs typeface="Helvetica Neue"/>
                <a:sym typeface="Helvetica Neue"/>
              </a:rPr>
              <a:t>Compress information into a small set of coefficients (typically </a:t>
            </a:r>
            <a:r>
              <a:rPr b="1" lang="en">
                <a:solidFill>
                  <a:schemeClr val="dk1"/>
                </a:solidFill>
                <a:latin typeface="Helvetica Neue"/>
                <a:ea typeface="Helvetica Neue"/>
                <a:cs typeface="Helvetica Neue"/>
                <a:sym typeface="Helvetica Neue"/>
              </a:rPr>
              <a:t>13 MFCCs</a:t>
            </a:r>
            <a:r>
              <a:rPr lang="en">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1200"/>
              </a:spcAft>
              <a:buNone/>
            </a:pPr>
            <a:r>
              <a:rPr lang="en">
                <a:solidFill>
                  <a:schemeClr val="dk1"/>
                </a:solidFill>
              </a:rPr>
              <a:t>For speech recognition tasks like digit classification, the </a:t>
            </a:r>
            <a:r>
              <a:rPr b="1" lang="en">
                <a:solidFill>
                  <a:schemeClr val="dk1"/>
                </a:solidFill>
              </a:rPr>
              <a:t>broad spectral envelope is what matters most</a:t>
            </a:r>
            <a:r>
              <a:rPr lang="en">
                <a:solidFill>
                  <a:schemeClr val="dk1"/>
                </a:solidFill>
              </a:rPr>
              <a:t>, because it reflects the </a:t>
            </a:r>
            <a:r>
              <a:rPr b="1" lang="en">
                <a:solidFill>
                  <a:schemeClr val="dk1"/>
                </a:solidFill>
              </a:rPr>
              <a:t>vocal tract configuration</a:t>
            </a:r>
            <a:r>
              <a:rPr lang="en">
                <a:solidFill>
                  <a:schemeClr val="dk1"/>
                </a:solidFill>
              </a:rPr>
              <a:t> that produces phonemes. </a:t>
            </a:r>
            <a:r>
              <a:rPr b="1" lang="en">
                <a:solidFill>
                  <a:schemeClr val="dk1"/>
                </a:solidFill>
              </a:rPr>
              <a:t>Lower coefficients (1–13)</a:t>
            </a:r>
            <a:r>
              <a:rPr lang="en">
                <a:solidFill>
                  <a:schemeClr val="dk1"/>
                </a:solidFill>
              </a:rPr>
              <a:t> capture the </a:t>
            </a:r>
            <a:r>
              <a:rPr b="1" lang="en">
                <a:solidFill>
                  <a:schemeClr val="dk1"/>
                </a:solidFill>
              </a:rPr>
              <a:t>overall shape of the spectral envelope</a:t>
            </a:r>
            <a:r>
              <a:rPr lang="en">
                <a:solidFill>
                  <a:schemeClr val="dk1"/>
                </a:solidFill>
              </a:rPr>
              <a:t>.</a:t>
            </a:r>
            <a:endParaRPr>
              <a:solidFill>
                <a:schemeClr val="dk1"/>
              </a:solidFill>
              <a:latin typeface="Helvetica Neue"/>
              <a:ea typeface="Helvetica Neue"/>
              <a:cs typeface="Helvetica Neue"/>
              <a:sym typeface="Helvetica Neue"/>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e444555a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e444555a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Helvetica Neue"/>
                <a:ea typeface="Helvetica Neue"/>
                <a:cs typeface="Helvetica Neue"/>
                <a:sym typeface="Helvetica Neue"/>
              </a:rPr>
              <a:t>In our pipeline:</a:t>
            </a:r>
            <a:endParaRPr>
              <a:solidFill>
                <a:schemeClr val="dk1"/>
              </a:solidFill>
              <a:latin typeface="Helvetica Neue"/>
              <a:ea typeface="Helvetica Neue"/>
              <a:cs typeface="Helvetica Neue"/>
              <a:sym typeface="Helvetica Neue"/>
            </a:endParaRPr>
          </a:p>
          <a:p>
            <a:pPr indent="-298450" lvl="0" marL="457200" rtl="0" algn="l">
              <a:lnSpc>
                <a:spcPct val="115000"/>
              </a:lnSpc>
              <a:spcBef>
                <a:spcPts val="1200"/>
              </a:spcBef>
              <a:spcAft>
                <a:spcPts val="0"/>
              </a:spcAft>
              <a:buClr>
                <a:schemeClr val="dk1"/>
              </a:buClr>
              <a:buSzPts val="1100"/>
              <a:buFont typeface="Helvetica Neue"/>
              <a:buChar char="●"/>
            </a:pPr>
            <a:r>
              <a:rPr lang="en">
                <a:solidFill>
                  <a:schemeClr val="dk1"/>
                </a:solidFill>
                <a:latin typeface="Helvetica Neue"/>
                <a:ea typeface="Helvetica Neue"/>
                <a:cs typeface="Helvetica Neue"/>
                <a:sym typeface="Helvetica Neue"/>
              </a:rPr>
              <a:t>MFCC features were extracted from each audio frame</a:t>
            </a:r>
            <a:endParaRPr>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a:solidFill>
                  <a:schemeClr val="dk1"/>
                </a:solidFill>
                <a:latin typeface="Helvetica Neue"/>
                <a:ea typeface="Helvetica Neue"/>
                <a:cs typeface="Helvetica Neue"/>
                <a:sym typeface="Helvetica Neue"/>
              </a:rPr>
              <a:t>CMVN was applied across the utterance</a:t>
            </a:r>
            <a:endParaRPr>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a:solidFill>
                  <a:schemeClr val="dk1"/>
                </a:solidFill>
                <a:latin typeface="Helvetica Neue"/>
                <a:ea typeface="Helvetica Neue"/>
                <a:cs typeface="Helvetica Neue"/>
                <a:sym typeface="Helvetica Neue"/>
              </a:rPr>
              <a:t>Delta and delta-delta features were then computed</a:t>
            </a:r>
            <a:endParaRPr>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latin typeface="Helvetica Neue"/>
                <a:ea typeface="Helvetica Neue"/>
                <a:cs typeface="Helvetica Neue"/>
                <a:sym typeface="Helvetica Neue"/>
              </a:rPr>
              <a:t>This normalization improves </a:t>
            </a:r>
            <a:r>
              <a:rPr b="1" lang="en">
                <a:solidFill>
                  <a:schemeClr val="dk1"/>
                </a:solidFill>
                <a:latin typeface="Helvetica Neue"/>
                <a:ea typeface="Helvetica Neue"/>
                <a:cs typeface="Helvetica Neue"/>
                <a:sym typeface="Helvetica Neue"/>
              </a:rPr>
              <a:t>feature consistency</a:t>
            </a:r>
            <a:r>
              <a:rPr lang="en">
                <a:solidFill>
                  <a:schemeClr val="dk1"/>
                </a:solidFill>
                <a:latin typeface="Helvetica Neue"/>
                <a:ea typeface="Helvetica Neue"/>
                <a:cs typeface="Helvetica Neue"/>
                <a:sym typeface="Helvetica Neue"/>
              </a:rPr>
              <a:t>, helping the LSTM classifier generalize better across recordings.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3a0e9d269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3a0e9d269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Static features tell us what the sound looks like at one moment, while delta and delta-delta tell us how that sound is moving over time.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e444555a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ce444555a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Fusion means combining both feature streams into one representation so the LSTM can learn from both the noise-robust PCEN information and the classic MFCC information at the same time.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e78dd8cb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e78dd8cb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Overall trend: </a:t>
            </a:r>
            <a:endParaRPr/>
          </a:p>
          <a:p>
            <a:pPr indent="-298450" lvl="0" marL="457200" rtl="0" algn="l">
              <a:spcBef>
                <a:spcPts val="0"/>
              </a:spcBef>
              <a:spcAft>
                <a:spcPts val="0"/>
              </a:spcAft>
              <a:buSzPts val="1100"/>
              <a:buChar char="●"/>
            </a:pPr>
            <a:r>
              <a:rPr lang="en"/>
              <a:t>Clean performance is nearly perfect. </a:t>
            </a:r>
            <a:endParaRPr/>
          </a:p>
          <a:p>
            <a:pPr indent="-298450" lvl="0" marL="457200" rtl="0" algn="l">
              <a:spcBef>
                <a:spcPts val="0"/>
              </a:spcBef>
              <a:spcAft>
                <a:spcPts val="0"/>
              </a:spcAft>
              <a:buSzPts val="1100"/>
              <a:buChar char="●"/>
            </a:pPr>
            <a:r>
              <a:rPr lang="en"/>
              <a:t>Performance is strong at 10 dB. </a:t>
            </a:r>
            <a:endParaRPr/>
          </a:p>
          <a:p>
            <a:pPr indent="-298450" lvl="0" marL="457200" rtl="0" algn="l">
              <a:spcBef>
                <a:spcPts val="0"/>
              </a:spcBef>
              <a:spcAft>
                <a:spcPts val="0"/>
              </a:spcAft>
              <a:buSzPts val="1100"/>
              <a:buChar char="●"/>
            </a:pPr>
            <a:r>
              <a:rPr lang="en"/>
              <a:t>The largest error occurs at 5 dB, where background noise is most severe.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Confusion matrices:</a:t>
            </a:r>
            <a:endParaRPr/>
          </a:p>
          <a:p>
            <a:pPr indent="-298450" lvl="0" marL="457200" rtl="0" algn="l">
              <a:spcBef>
                <a:spcPts val="0"/>
              </a:spcBef>
              <a:spcAft>
                <a:spcPts val="0"/>
              </a:spcAft>
              <a:buSzPts val="1100"/>
              <a:buChar char="●"/>
            </a:pPr>
            <a:r>
              <a:rPr lang="en"/>
              <a:t>Noise mainly affects digits with more similar spectral/temporal patterns</a:t>
            </a:r>
            <a:endParaRPr/>
          </a:p>
          <a:p>
            <a:pPr indent="-298450" lvl="0" marL="457200" rtl="0" algn="l">
              <a:spcBef>
                <a:spcPts val="0"/>
              </a:spcBef>
              <a:spcAft>
                <a:spcPts val="0"/>
              </a:spcAft>
              <a:buSzPts val="1100"/>
              <a:buChar char="●"/>
            </a:pPr>
            <a:r>
              <a:rPr lang="en"/>
              <a:t>Errors increase when noise masks the fine acoustic cues needed to distinguish similar pronunciations</a:t>
            </a:r>
            <a:endParaRPr/>
          </a:p>
          <a:p>
            <a:pPr indent="-298450" lvl="0" marL="457200" rtl="0" algn="l">
              <a:spcBef>
                <a:spcPts val="0"/>
              </a:spcBef>
              <a:spcAft>
                <a:spcPts val="0"/>
              </a:spcAft>
              <a:buSzPts val="1100"/>
              <a:buChar char="●"/>
            </a:pPr>
            <a:r>
              <a:rPr lang="en"/>
              <a:t>Still the fused features are highly effective, especially at 10 dB</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cec74e36ab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cec74e36ab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In order of how we iterated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ener">
  <p:cSld name="Title Opener">
    <p:spTree>
      <p:nvGrpSpPr>
        <p:cNvPr id="13" name="Shape 13"/>
        <p:cNvGrpSpPr/>
        <p:nvPr/>
      </p:nvGrpSpPr>
      <p:grpSpPr>
        <a:xfrm>
          <a:off x="0" y="0"/>
          <a:ext cx="0" cy="0"/>
          <a:chOff x="0" y="0"/>
          <a:chExt cx="0" cy="0"/>
        </a:xfrm>
      </p:grpSpPr>
      <p:sp>
        <p:nvSpPr>
          <p:cNvPr id="14" name="Google Shape;14;p2"/>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6" name="Google Shape;16;p2"/>
          <p:cNvSpPr/>
          <p:nvPr/>
        </p:nvSpPr>
        <p:spPr>
          <a:xfrm>
            <a:off x="0" y="0"/>
            <a:ext cx="9144000" cy="51513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u="none" cap="none" strike="noStrike">
              <a:solidFill>
                <a:schemeClr val="lt1"/>
              </a:solidFill>
              <a:latin typeface="Helvetica Neue"/>
              <a:ea typeface="Helvetica Neue"/>
              <a:cs typeface="Helvetica Neue"/>
              <a:sym typeface="Helvetica Neue"/>
            </a:endParaRPr>
          </a:p>
        </p:txBody>
      </p:sp>
      <p:sp>
        <p:nvSpPr>
          <p:cNvPr id="17" name="Google Shape;17;p2"/>
          <p:cNvSpPr txBox="1"/>
          <p:nvPr>
            <p:ph idx="1" type="body"/>
          </p:nvPr>
        </p:nvSpPr>
        <p:spPr>
          <a:xfrm>
            <a:off x="640080" y="4663376"/>
            <a:ext cx="1726200" cy="167100"/>
          </a:xfrm>
          <a:prstGeom prst="rect">
            <a:avLst/>
          </a:prstGeom>
          <a:noFill/>
          <a:ln>
            <a:noFill/>
          </a:ln>
        </p:spPr>
        <p:txBody>
          <a:bodyPr anchorCtr="0" anchor="b" bIns="0" lIns="9125" spcFirstLastPara="1" rIns="0" wrap="square" tIns="0">
            <a:spAutoFit/>
          </a:bodyPr>
          <a:lstStyle>
            <a:lvl1pPr indent="-228600" lvl="0" marL="457200" algn="l">
              <a:lnSpc>
                <a:spcPct val="90000"/>
              </a:lnSpc>
              <a:spcBef>
                <a:spcPts val="300"/>
              </a:spcBef>
              <a:spcAft>
                <a:spcPts val="0"/>
              </a:spcAft>
              <a:buClr>
                <a:srgbClr val="898989"/>
              </a:buClr>
              <a:buSzPts val="1200"/>
              <a:buFont typeface="Helvetica Neue"/>
              <a:buNone/>
              <a:defRPr b="0" i="0" sz="1200">
                <a:solidFill>
                  <a:srgbClr val="898989"/>
                </a:solidFill>
                <a:latin typeface="Helvetica Neue"/>
                <a:ea typeface="Helvetica Neue"/>
                <a:cs typeface="Helvetica Neue"/>
                <a:sym typeface="Helvetica Neue"/>
              </a:defRPr>
            </a:lvl1pPr>
            <a:lvl2pPr indent="-304800" lvl="1" marL="914400" algn="l">
              <a:lnSpc>
                <a:spcPct val="90000"/>
              </a:lnSpc>
              <a:spcBef>
                <a:spcPts val="375"/>
              </a:spcBef>
              <a:spcAft>
                <a:spcPts val="0"/>
              </a:spcAft>
              <a:buClr>
                <a:srgbClr val="58595B"/>
              </a:buClr>
              <a:buSzPts val="1200"/>
              <a:buChar char="•"/>
              <a:defRPr sz="1200"/>
            </a:lvl2pPr>
            <a:lvl3pPr indent="-304800" lvl="2" marL="1371600" algn="l">
              <a:lnSpc>
                <a:spcPct val="90000"/>
              </a:lnSpc>
              <a:spcBef>
                <a:spcPts val="375"/>
              </a:spcBef>
              <a:spcAft>
                <a:spcPts val="0"/>
              </a:spcAft>
              <a:buClr>
                <a:srgbClr val="58595B"/>
              </a:buClr>
              <a:buSzPts val="1200"/>
              <a:buChar char="•"/>
              <a:defRPr sz="1200"/>
            </a:lvl3pPr>
            <a:lvl4pPr indent="-304800" lvl="3" marL="1828800" algn="l">
              <a:lnSpc>
                <a:spcPct val="90000"/>
              </a:lnSpc>
              <a:spcBef>
                <a:spcPts val="375"/>
              </a:spcBef>
              <a:spcAft>
                <a:spcPts val="0"/>
              </a:spcAft>
              <a:buClr>
                <a:srgbClr val="58595B"/>
              </a:buClr>
              <a:buSzPts val="1200"/>
              <a:buChar char="•"/>
              <a:defRPr sz="1200"/>
            </a:lvl4pPr>
            <a:lvl5pPr indent="-304800" lvl="4" marL="2286000" algn="l">
              <a:lnSpc>
                <a:spcPct val="90000"/>
              </a:lnSpc>
              <a:spcBef>
                <a:spcPts val="375"/>
              </a:spcBef>
              <a:spcAft>
                <a:spcPts val="0"/>
              </a:spcAft>
              <a:buClr>
                <a:srgbClr val="58595B"/>
              </a:buClr>
              <a:buSzPts val="1200"/>
              <a:buChar char="•"/>
              <a:defRPr sz="1200"/>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8" name="Google Shape;18;p2"/>
          <p:cNvSpPr txBox="1"/>
          <p:nvPr>
            <p:ph idx="2" type="body"/>
          </p:nvPr>
        </p:nvSpPr>
        <p:spPr>
          <a:xfrm>
            <a:off x="640080" y="4480496"/>
            <a:ext cx="1188600" cy="167100"/>
          </a:xfrm>
          <a:prstGeom prst="rect">
            <a:avLst/>
          </a:prstGeom>
          <a:noFill/>
          <a:ln>
            <a:noFill/>
          </a:ln>
        </p:spPr>
        <p:txBody>
          <a:bodyPr anchorCtr="0" anchor="b" bIns="0" lIns="9125" spcFirstLastPara="1" rIns="0" wrap="square" tIns="0">
            <a:spAutoFit/>
          </a:bodyPr>
          <a:lstStyle>
            <a:lvl1pPr indent="-228600" lvl="0" marL="457200" algn="l">
              <a:lnSpc>
                <a:spcPct val="90000"/>
              </a:lnSpc>
              <a:spcBef>
                <a:spcPts val="300"/>
              </a:spcBef>
              <a:spcAft>
                <a:spcPts val="0"/>
              </a:spcAft>
              <a:buClr>
                <a:srgbClr val="898989"/>
              </a:buClr>
              <a:buSzPts val="1200"/>
              <a:buFont typeface="Helvetica Neue"/>
              <a:buNone/>
              <a:defRPr b="0" i="0" sz="1200">
                <a:solidFill>
                  <a:srgbClr val="898989"/>
                </a:solidFill>
                <a:latin typeface="Helvetica Neue"/>
                <a:ea typeface="Helvetica Neue"/>
                <a:cs typeface="Helvetica Neue"/>
                <a:sym typeface="Helvetica Neue"/>
              </a:defRPr>
            </a:lvl1pPr>
            <a:lvl2pPr indent="-304800" lvl="1" marL="914400" algn="l">
              <a:lnSpc>
                <a:spcPct val="90000"/>
              </a:lnSpc>
              <a:spcBef>
                <a:spcPts val="375"/>
              </a:spcBef>
              <a:spcAft>
                <a:spcPts val="0"/>
              </a:spcAft>
              <a:buClr>
                <a:srgbClr val="58595B"/>
              </a:buClr>
              <a:buSzPts val="1200"/>
              <a:buChar char="•"/>
              <a:defRPr sz="1200"/>
            </a:lvl2pPr>
            <a:lvl3pPr indent="-304800" lvl="2" marL="1371600" algn="l">
              <a:lnSpc>
                <a:spcPct val="90000"/>
              </a:lnSpc>
              <a:spcBef>
                <a:spcPts val="375"/>
              </a:spcBef>
              <a:spcAft>
                <a:spcPts val="0"/>
              </a:spcAft>
              <a:buClr>
                <a:srgbClr val="58595B"/>
              </a:buClr>
              <a:buSzPts val="1200"/>
              <a:buChar char="•"/>
              <a:defRPr sz="1200"/>
            </a:lvl3pPr>
            <a:lvl4pPr indent="-304800" lvl="3" marL="1828800" algn="l">
              <a:lnSpc>
                <a:spcPct val="90000"/>
              </a:lnSpc>
              <a:spcBef>
                <a:spcPts val="375"/>
              </a:spcBef>
              <a:spcAft>
                <a:spcPts val="0"/>
              </a:spcAft>
              <a:buClr>
                <a:srgbClr val="58595B"/>
              </a:buClr>
              <a:buSzPts val="1200"/>
              <a:buChar char="•"/>
              <a:defRPr sz="1200"/>
            </a:lvl4pPr>
            <a:lvl5pPr indent="-304800" lvl="4" marL="2286000" algn="l">
              <a:lnSpc>
                <a:spcPct val="90000"/>
              </a:lnSpc>
              <a:spcBef>
                <a:spcPts val="375"/>
              </a:spcBef>
              <a:spcAft>
                <a:spcPts val="0"/>
              </a:spcAft>
              <a:buClr>
                <a:srgbClr val="58595B"/>
              </a:buClr>
              <a:buSzPts val="1200"/>
              <a:buChar char="•"/>
              <a:defRPr sz="1200"/>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9" name="Google Shape;19;p2"/>
          <p:cNvSpPr/>
          <p:nvPr/>
        </p:nvSpPr>
        <p:spPr>
          <a:xfrm>
            <a:off x="640080" y="3017520"/>
            <a:ext cx="7772400" cy="36600"/>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sp>
        <p:nvSpPr>
          <p:cNvPr id="20" name="Google Shape;20;p2"/>
          <p:cNvSpPr/>
          <p:nvPr/>
        </p:nvSpPr>
        <p:spPr>
          <a:xfrm>
            <a:off x="640080" y="1828800"/>
            <a:ext cx="7772400" cy="36600"/>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sp>
        <p:nvSpPr>
          <p:cNvPr id="21" name="Google Shape;21;p2"/>
          <p:cNvSpPr/>
          <p:nvPr>
            <p:ph idx="3" type="pic"/>
          </p:nvPr>
        </p:nvSpPr>
        <p:spPr>
          <a:xfrm>
            <a:off x="647698" y="476251"/>
            <a:ext cx="5564700" cy="1031700"/>
          </a:xfrm>
          <a:prstGeom prst="rect">
            <a:avLst/>
          </a:prstGeom>
          <a:noFill/>
          <a:ln>
            <a:noFill/>
          </a:ln>
        </p:spPr>
        <p:txBody>
          <a:bodyPr anchorCtr="0" anchor="t" bIns="0" lIns="0" spcFirstLastPara="1" rIns="0" wrap="square" tIns="0">
            <a:noAutofit/>
          </a:bodyPr>
          <a:lstStyle>
            <a:lvl1pPr lvl="0" marR="0" rtl="0" algn="l">
              <a:lnSpc>
                <a:spcPct val="90000"/>
              </a:lnSpc>
              <a:spcBef>
                <a:spcPts val="750"/>
              </a:spcBef>
              <a:spcAft>
                <a:spcPts val="0"/>
              </a:spcAft>
              <a:buClr>
                <a:srgbClr val="58595B"/>
              </a:buClr>
              <a:buSzPts val="1000"/>
              <a:buFont typeface="Arial"/>
              <a:buNone/>
              <a:defRPr b="0" i="0" sz="1000" u="none" cap="none" strike="noStrike">
                <a:solidFill>
                  <a:srgbClr val="58595B"/>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22" name="Google Shape;22;p2"/>
          <p:cNvSpPr txBox="1"/>
          <p:nvPr>
            <p:ph idx="4" type="body"/>
          </p:nvPr>
        </p:nvSpPr>
        <p:spPr>
          <a:xfrm>
            <a:off x="640080" y="1645920"/>
            <a:ext cx="3383400" cy="91500"/>
          </a:xfrm>
          <a:prstGeom prst="rect">
            <a:avLst/>
          </a:prstGeom>
          <a:noFill/>
          <a:ln>
            <a:noFill/>
          </a:ln>
        </p:spPr>
        <p:txBody>
          <a:bodyPr anchorCtr="0" anchor="t" bIns="0" lIns="18275" spcFirstLastPara="1" rIns="0" wrap="square" tIns="0">
            <a:spAutoFit/>
          </a:bodyPr>
          <a:lstStyle>
            <a:lvl1pPr indent="-228600" lvl="0" marL="457200" algn="l">
              <a:lnSpc>
                <a:spcPct val="90000"/>
              </a:lnSpc>
              <a:spcBef>
                <a:spcPts val="750"/>
              </a:spcBef>
              <a:spcAft>
                <a:spcPts val="0"/>
              </a:spcAft>
              <a:buClr>
                <a:srgbClr val="58595B"/>
              </a:buClr>
              <a:buSzPts val="800"/>
              <a:buNone/>
              <a:defRPr sz="800" cap="none">
                <a:latin typeface="Helvetica Neue"/>
                <a:ea typeface="Helvetica Neue"/>
                <a:cs typeface="Helvetica Neue"/>
                <a:sym typeface="Helvetica Neue"/>
              </a:defRPr>
            </a:lvl1pPr>
            <a:lvl2pPr indent="-228600" lvl="1" marL="914400" algn="l">
              <a:lnSpc>
                <a:spcPct val="90000"/>
              </a:lnSpc>
              <a:spcBef>
                <a:spcPts val="375"/>
              </a:spcBef>
              <a:spcAft>
                <a:spcPts val="0"/>
              </a:spcAft>
              <a:buClr>
                <a:srgbClr val="58595B"/>
              </a:buClr>
              <a:buSzPts val="800"/>
              <a:buFont typeface="Arial"/>
              <a:buNone/>
              <a:defRPr sz="800">
                <a:latin typeface="Helvetica Neue"/>
                <a:ea typeface="Helvetica Neue"/>
                <a:cs typeface="Helvetica Neue"/>
                <a:sym typeface="Helvetica Neue"/>
              </a:defRPr>
            </a:lvl2pPr>
            <a:lvl3pPr indent="-228600" lvl="2" marL="1371600" algn="l">
              <a:lnSpc>
                <a:spcPct val="90000"/>
              </a:lnSpc>
              <a:spcBef>
                <a:spcPts val="375"/>
              </a:spcBef>
              <a:spcAft>
                <a:spcPts val="0"/>
              </a:spcAft>
              <a:buClr>
                <a:srgbClr val="58595B"/>
              </a:buClr>
              <a:buSzPts val="800"/>
              <a:buNone/>
              <a:defRPr sz="800">
                <a:latin typeface="Helvetica Neue"/>
                <a:ea typeface="Helvetica Neue"/>
                <a:cs typeface="Helvetica Neue"/>
                <a:sym typeface="Helvetica Neue"/>
              </a:defRPr>
            </a:lvl3pPr>
            <a:lvl4pPr indent="-228600" lvl="3" marL="1828800" algn="l">
              <a:lnSpc>
                <a:spcPct val="90000"/>
              </a:lnSpc>
              <a:spcBef>
                <a:spcPts val="375"/>
              </a:spcBef>
              <a:spcAft>
                <a:spcPts val="0"/>
              </a:spcAft>
              <a:buClr>
                <a:srgbClr val="58595B"/>
              </a:buClr>
              <a:buSzPts val="800"/>
              <a:buNone/>
              <a:defRPr sz="800">
                <a:latin typeface="Helvetica Neue"/>
                <a:ea typeface="Helvetica Neue"/>
                <a:cs typeface="Helvetica Neue"/>
                <a:sym typeface="Helvetica Neue"/>
              </a:defRPr>
            </a:lvl4pPr>
            <a:lvl5pPr indent="-228600" lvl="4" marL="2286000" algn="l">
              <a:lnSpc>
                <a:spcPct val="90000"/>
              </a:lnSpc>
              <a:spcBef>
                <a:spcPts val="375"/>
              </a:spcBef>
              <a:spcAft>
                <a:spcPts val="0"/>
              </a:spcAft>
              <a:buClr>
                <a:srgbClr val="58595B"/>
              </a:buClr>
              <a:buSzPts val="800"/>
              <a:buNone/>
              <a:defRPr sz="8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3" name="Google Shape;23;p2"/>
          <p:cNvSpPr txBox="1"/>
          <p:nvPr/>
        </p:nvSpPr>
        <p:spPr>
          <a:xfrm>
            <a:off x="6594764" y="304800"/>
            <a:ext cx="14271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350">
              <a:solidFill>
                <a:schemeClr val="dk1"/>
              </a:solidFill>
              <a:latin typeface="Helvetica Neue"/>
              <a:ea typeface="Helvetica Neue"/>
              <a:cs typeface="Helvetica Neue"/>
              <a:sym typeface="Helvetica Neue"/>
            </a:endParaRPr>
          </a:p>
        </p:txBody>
      </p:sp>
      <p:sp>
        <p:nvSpPr>
          <p:cNvPr id="24" name="Google Shape;24;p2"/>
          <p:cNvSpPr txBox="1"/>
          <p:nvPr>
            <p:ph idx="5" type="body"/>
          </p:nvPr>
        </p:nvSpPr>
        <p:spPr>
          <a:xfrm>
            <a:off x="3529852" y="3192476"/>
            <a:ext cx="4882500" cy="249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750"/>
              </a:spcBef>
              <a:spcAft>
                <a:spcPts val="0"/>
              </a:spcAft>
              <a:buClr>
                <a:srgbClr val="FC28FC"/>
              </a:buClr>
              <a:buSzPts val="900"/>
              <a:buFont typeface="Arial"/>
              <a:buNone/>
              <a:defRPr sz="900">
                <a:solidFill>
                  <a:srgbClr val="FC28FC"/>
                </a:solidFill>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5" name="Google Shape;25;p2"/>
          <p:cNvSpPr txBox="1"/>
          <p:nvPr>
            <p:ph idx="6" type="body"/>
          </p:nvPr>
        </p:nvSpPr>
        <p:spPr>
          <a:xfrm>
            <a:off x="3529852" y="3525422"/>
            <a:ext cx="4882500" cy="249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750"/>
              </a:spcBef>
              <a:spcAft>
                <a:spcPts val="0"/>
              </a:spcAft>
              <a:buClr>
                <a:srgbClr val="FC28FC"/>
              </a:buClr>
              <a:buSzPts val="900"/>
              <a:buFont typeface="Arial"/>
              <a:buNone/>
              <a:defRPr sz="900">
                <a:solidFill>
                  <a:srgbClr val="FC28FC"/>
                </a:solidFill>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6" name="Google Shape;26;p2"/>
          <p:cNvSpPr txBox="1"/>
          <p:nvPr>
            <p:ph idx="7" type="body"/>
          </p:nvPr>
        </p:nvSpPr>
        <p:spPr>
          <a:xfrm>
            <a:off x="3529852" y="3858368"/>
            <a:ext cx="4882500" cy="716400"/>
          </a:xfrm>
          <a:prstGeom prst="rect">
            <a:avLst/>
          </a:prstGeom>
          <a:noFill/>
          <a:ln>
            <a:noFill/>
          </a:ln>
        </p:spPr>
        <p:txBody>
          <a:bodyPr anchorCtr="0" anchor="t" bIns="45700" lIns="0" spcFirstLastPara="1" rIns="91425" wrap="square" tIns="45700">
            <a:spAutoFit/>
          </a:bodyPr>
          <a:lstStyle>
            <a:lvl1pPr indent="-228600" lvl="0" marL="457200" marR="0" algn="l">
              <a:lnSpc>
                <a:spcPct val="90000"/>
              </a:lnSpc>
              <a:spcBef>
                <a:spcPts val="750"/>
              </a:spcBef>
              <a:spcAft>
                <a:spcPts val="0"/>
              </a:spcAft>
              <a:buClr>
                <a:srgbClr val="FC28FC"/>
              </a:buClr>
              <a:buSzPts val="900"/>
              <a:buFont typeface="Arial"/>
              <a:buNone/>
              <a:defRPr sz="900">
                <a:solidFill>
                  <a:srgbClr val="FC28FC"/>
                </a:solidFill>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7" name="Google Shape;27;p2"/>
          <p:cNvSpPr txBox="1"/>
          <p:nvPr>
            <p:ph idx="8" type="body"/>
          </p:nvPr>
        </p:nvSpPr>
        <p:spPr>
          <a:xfrm>
            <a:off x="3529852" y="4656177"/>
            <a:ext cx="4882500" cy="1254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750"/>
              </a:spcBef>
              <a:spcAft>
                <a:spcPts val="0"/>
              </a:spcAft>
              <a:buClr>
                <a:srgbClr val="FC28FC"/>
              </a:buClr>
              <a:buSzPts val="900"/>
              <a:buFont typeface="Arial"/>
              <a:buNone/>
              <a:defRPr sz="900">
                <a:solidFill>
                  <a:srgbClr val="FC28FC"/>
                </a:solidFill>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8" name="Google Shape;28;p2"/>
          <p:cNvSpPr txBox="1"/>
          <p:nvPr>
            <p:ph idx="9" type="body"/>
          </p:nvPr>
        </p:nvSpPr>
        <p:spPr>
          <a:xfrm>
            <a:off x="640080" y="1892808"/>
            <a:ext cx="7772400" cy="1102500"/>
          </a:xfrm>
          <a:prstGeom prst="rect">
            <a:avLst/>
          </a:prstGeom>
          <a:noFill/>
          <a:ln>
            <a:noFill/>
          </a:ln>
        </p:spPr>
        <p:txBody>
          <a:bodyPr anchorCtr="0" anchor="ctr" bIns="0" lIns="0" spcFirstLastPara="1" rIns="0" wrap="square" tIns="0">
            <a:spAutoFit/>
          </a:bodyPr>
          <a:lstStyle>
            <a:lvl1pPr indent="-228600" lvl="0" marL="457200" algn="l">
              <a:lnSpc>
                <a:spcPct val="90000"/>
              </a:lnSpc>
              <a:spcBef>
                <a:spcPts val="750"/>
              </a:spcBef>
              <a:spcAft>
                <a:spcPts val="0"/>
              </a:spcAft>
              <a:buClr>
                <a:srgbClr val="58595B"/>
              </a:buClr>
              <a:buSzPts val="3600"/>
              <a:buNone/>
              <a:defRPr b="1" sz="3600">
                <a:latin typeface="Helvetica Neue"/>
                <a:ea typeface="Helvetica Neue"/>
                <a:cs typeface="Helvetica Neue"/>
                <a:sym typeface="Helvetica Neue"/>
              </a:defRPr>
            </a:lvl1pPr>
            <a:lvl2pPr indent="-228600" lvl="1" marL="914400" algn="l">
              <a:lnSpc>
                <a:spcPct val="90000"/>
              </a:lnSpc>
              <a:spcBef>
                <a:spcPts val="375"/>
              </a:spcBef>
              <a:spcAft>
                <a:spcPts val="0"/>
              </a:spcAft>
              <a:buClr>
                <a:srgbClr val="58595B"/>
              </a:buClr>
              <a:buSzPts val="3600"/>
              <a:buFont typeface="Arial"/>
              <a:buNone/>
              <a:defRPr b="1" sz="3600">
                <a:latin typeface="Helvetica Neue"/>
                <a:ea typeface="Helvetica Neue"/>
                <a:cs typeface="Helvetica Neue"/>
                <a:sym typeface="Helvetica Neue"/>
              </a:defRPr>
            </a:lvl2pPr>
            <a:lvl3pPr indent="-228600" lvl="2" marL="13716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3pPr>
            <a:lvl4pPr indent="-228600" lvl="3" marL="18288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4pPr>
            <a:lvl5pPr indent="-228600" lvl="4" marL="2286000" algn="l">
              <a:lnSpc>
                <a:spcPct val="90000"/>
              </a:lnSpc>
              <a:spcBef>
                <a:spcPts val="375"/>
              </a:spcBef>
              <a:spcAft>
                <a:spcPts val="0"/>
              </a:spcAft>
              <a:buClr>
                <a:srgbClr val="58595B"/>
              </a:buClr>
              <a:buSzPts val="3600"/>
              <a:buNone/>
              <a:defRPr b="1" sz="36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29" name="Google Shape;29;p2"/>
          <p:cNvSpPr txBox="1"/>
          <p:nvPr/>
        </p:nvSpPr>
        <p:spPr>
          <a:xfrm>
            <a:off x="6594764" y="304800"/>
            <a:ext cx="14271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350">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orient="horz" pos="300">
          <p15:clr>
            <a:srgbClr val="FBAE40"/>
          </p15:clr>
        </p15:guide>
        <p15:guide id="2" orient="horz" pos="540">
          <p15:clr>
            <a:srgbClr val="FBAE40"/>
          </p15:clr>
        </p15:guide>
        <p15:guide id="3" pos="4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able">
  <p:cSld name="Header w/table">
    <p:spTree>
      <p:nvGrpSpPr>
        <p:cNvPr id="30" name="Shape 30"/>
        <p:cNvGrpSpPr/>
        <p:nvPr/>
      </p:nvGrpSpPr>
      <p:grpSpPr>
        <a:xfrm>
          <a:off x="0" y="0"/>
          <a:ext cx="0" cy="0"/>
          <a:chOff x="0" y="0"/>
          <a:chExt cx="0" cy="0"/>
        </a:xfrm>
      </p:grpSpPr>
      <p:sp>
        <p:nvSpPr>
          <p:cNvPr id="31" name="Google Shape;31;p3"/>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33" name="Google Shape;33;p3"/>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
          <p:cNvSpPr/>
          <p:nvPr>
            <p:ph idx="2" type="tbl"/>
          </p:nvPr>
        </p:nvSpPr>
        <p:spPr>
          <a:xfrm>
            <a:off x="1097280" y="1188720"/>
            <a:ext cx="6400800" cy="3108900"/>
          </a:xfrm>
          <a:prstGeom prst="rect">
            <a:avLst/>
          </a:prstGeom>
          <a:solidFill>
            <a:srgbClr val="DBE7F5"/>
          </a:solidFill>
          <a:ln>
            <a:noFill/>
          </a:ln>
        </p:spPr>
        <p:txBody>
          <a:bodyPr anchorCtr="1" anchor="t" bIns="45700" lIns="91425" spcFirstLastPara="1" rIns="91425" wrap="square" tIns="45700">
            <a:noAutofit/>
          </a:bodyPr>
          <a:lstStyle>
            <a:lvl1pPr lvl="0" marR="0" rtl="0" algn="ctr">
              <a:spcBef>
                <a:spcPts val="0"/>
              </a:spcBef>
              <a:spcAft>
                <a:spcPts val="0"/>
              </a:spcAft>
              <a:buClr>
                <a:srgbClr val="898989"/>
              </a:buClr>
              <a:buSzPts val="1350"/>
              <a:buFont typeface="Helvetica Neue"/>
              <a:buNone/>
              <a:defRPr b="0" i="0" sz="1350" u="none" cap="none" strike="noStrike">
                <a:solidFill>
                  <a:srgbClr val="898989"/>
                </a:solidFill>
                <a:latin typeface="Helvetica Neue"/>
                <a:ea typeface="Helvetica Neue"/>
                <a:cs typeface="Helvetica Neue"/>
                <a:sym typeface="Helvetica Neue"/>
              </a:defRPr>
            </a:lvl1pPr>
            <a:lvl2pPr lvl="1"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2pPr>
            <a:lvl3pPr lvl="2"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3pPr>
            <a:lvl4pPr lvl="3"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4pPr>
            <a:lvl5pPr lvl="4"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5pPr>
            <a:lvl6pPr lvl="5"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6pPr>
            <a:lvl7pPr lvl="6"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7pPr>
            <a:lvl8pPr lvl="7"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8pPr>
            <a:lvl9pPr lvl="8" marR="0" rtl="0" algn="l">
              <a:spcBef>
                <a:spcPts val="0"/>
              </a:spcBef>
              <a:spcAft>
                <a:spcPts val="0"/>
              </a:spcAft>
              <a:buSzPts val="1400"/>
              <a:buNone/>
              <a:defRPr b="0" i="0" sz="1350" u="none" cap="none" strike="noStrike">
                <a:solidFill>
                  <a:schemeClr val="dk1"/>
                </a:solidFill>
                <a:latin typeface="Helvetica Neue"/>
                <a:ea typeface="Helvetica Neue"/>
                <a:cs typeface="Helvetica Neue"/>
                <a:sym typeface="Helvetica Neue"/>
              </a:defRPr>
            </a:lvl9pPr>
          </a:lstStyle>
          <a:p/>
        </p:txBody>
      </p:sp>
      <p:sp>
        <p:nvSpPr>
          <p:cNvPr id="35" name="Google Shape;35;p3"/>
          <p:cNvSpPr txBox="1"/>
          <p:nvPr>
            <p:ph idx="1" type="body"/>
          </p:nvPr>
        </p:nvSpPr>
        <p:spPr>
          <a:xfrm>
            <a:off x="7739809" y="1188720"/>
            <a:ext cx="947100" cy="13542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FC28FC"/>
              </a:buClr>
              <a:buSzPts val="800"/>
              <a:buNone/>
              <a:defRPr b="0" sz="800">
                <a:solidFill>
                  <a:srgbClr val="FC28FC"/>
                </a:solidFill>
              </a:defRPr>
            </a:lvl1pPr>
            <a:lvl2pPr indent="-228600" lvl="1" marL="914400" algn="l">
              <a:lnSpc>
                <a:spcPct val="90000"/>
              </a:lnSpc>
              <a:spcBef>
                <a:spcPts val="375"/>
              </a:spcBef>
              <a:spcAft>
                <a:spcPts val="0"/>
              </a:spcAft>
              <a:buClr>
                <a:srgbClr val="FF0000"/>
              </a:buClr>
              <a:buSzPts val="1400"/>
              <a:buNone/>
              <a:defRPr>
                <a:solidFill>
                  <a:srgbClr val="FF0000"/>
                </a:solidFill>
              </a:defRPr>
            </a:lvl2pPr>
            <a:lvl3pPr indent="-228600" lvl="2" marL="1371600" algn="l">
              <a:lnSpc>
                <a:spcPct val="90000"/>
              </a:lnSpc>
              <a:spcBef>
                <a:spcPts val="375"/>
              </a:spcBef>
              <a:spcAft>
                <a:spcPts val="0"/>
              </a:spcAft>
              <a:buClr>
                <a:srgbClr val="FF0000"/>
              </a:buClr>
              <a:buSzPts val="1400"/>
              <a:buNone/>
              <a:defRPr>
                <a:solidFill>
                  <a:srgbClr val="FF0000"/>
                </a:solidFill>
              </a:defRPr>
            </a:lvl3pPr>
            <a:lvl4pPr indent="-228600" lvl="3" marL="1828800" algn="l">
              <a:lnSpc>
                <a:spcPct val="90000"/>
              </a:lnSpc>
              <a:spcBef>
                <a:spcPts val="375"/>
              </a:spcBef>
              <a:spcAft>
                <a:spcPts val="0"/>
              </a:spcAft>
              <a:buClr>
                <a:srgbClr val="FF0000"/>
              </a:buClr>
              <a:buSzPts val="1400"/>
              <a:buNone/>
              <a:defRPr>
                <a:solidFill>
                  <a:srgbClr val="FF0000"/>
                </a:solidFill>
              </a:defRPr>
            </a:lvl4pPr>
            <a:lvl5pPr indent="-228600" lvl="4" marL="2286000" algn="l">
              <a:lnSpc>
                <a:spcPct val="90000"/>
              </a:lnSpc>
              <a:spcBef>
                <a:spcPts val="375"/>
              </a:spcBef>
              <a:spcAft>
                <a:spcPts val="0"/>
              </a:spcAft>
              <a:buClr>
                <a:srgbClr val="FF0000"/>
              </a:buClr>
              <a:buSzPts val="1400"/>
              <a:buNone/>
              <a:defRPr>
                <a:solidFill>
                  <a:srgbClr val="FF0000"/>
                </a:solidFill>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36" name="Shape 36"/>
        <p:cNvGrpSpPr/>
        <p:nvPr/>
      </p:nvGrpSpPr>
      <p:grpSpPr>
        <a:xfrm>
          <a:off x="0" y="0"/>
          <a:ext cx="0" cy="0"/>
          <a:chOff x="0" y="0"/>
          <a:chExt cx="0" cy="0"/>
        </a:xfrm>
      </p:grpSpPr>
      <p:sp>
        <p:nvSpPr>
          <p:cNvPr id="37" name="Google Shape;37;p4"/>
          <p:cNvSpPr/>
          <p:nvPr/>
        </p:nvSpPr>
        <p:spPr>
          <a:xfrm>
            <a:off x="0" y="0"/>
            <a:ext cx="9144000" cy="45720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38" name="Google Shape;38;p4"/>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40" name="Google Shape;40;p4"/>
          <p:cNvSpPr txBox="1"/>
          <p:nvPr/>
        </p:nvSpPr>
        <p:spPr>
          <a:xfrm>
            <a:off x="640080" y="1874520"/>
            <a:ext cx="7772400" cy="5541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i="0" lang="en" sz="3600">
                <a:solidFill>
                  <a:srgbClr val="58595B"/>
                </a:solidFill>
                <a:latin typeface="Helvetica Neue"/>
                <a:ea typeface="Helvetica Neue"/>
                <a:cs typeface="Helvetica Neue"/>
                <a:sym typeface="Helvetica Neue"/>
              </a:rPr>
              <a:t>Thank You</a:t>
            </a:r>
            <a:endParaRPr/>
          </a:p>
        </p:txBody>
      </p:sp>
      <p:sp>
        <p:nvSpPr>
          <p:cNvPr id="41" name="Google Shape;41;p4"/>
          <p:cNvSpPr/>
          <p:nvPr/>
        </p:nvSpPr>
        <p:spPr>
          <a:xfrm>
            <a:off x="640080" y="2468880"/>
            <a:ext cx="7772400" cy="36600"/>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42" name="Google Shape;42;p4"/>
          <p:cNvSpPr txBox="1"/>
          <p:nvPr/>
        </p:nvSpPr>
        <p:spPr>
          <a:xfrm>
            <a:off x="640080" y="1874520"/>
            <a:ext cx="7772400" cy="5541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i="0" lang="en" sz="3600">
                <a:solidFill>
                  <a:srgbClr val="58595B"/>
                </a:solidFill>
                <a:latin typeface="Helvetica Neue"/>
                <a:ea typeface="Helvetica Neue"/>
                <a:cs typeface="Helvetica Neue"/>
                <a:sym typeface="Helvetica Neue"/>
              </a:rPr>
              <a:t>Thank You</a:t>
            </a:r>
            <a:endParaRPr/>
          </a:p>
        </p:txBody>
      </p:sp>
      <p:sp>
        <p:nvSpPr>
          <p:cNvPr id="43" name="Google Shape;43;p4"/>
          <p:cNvSpPr txBox="1"/>
          <p:nvPr/>
        </p:nvSpPr>
        <p:spPr>
          <a:xfrm>
            <a:off x="640080" y="1874520"/>
            <a:ext cx="7772400" cy="5541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i="0" lang="en" sz="3600">
                <a:solidFill>
                  <a:srgbClr val="58595B"/>
                </a:solidFill>
                <a:latin typeface="Helvetica Neue"/>
                <a:ea typeface="Helvetica Neue"/>
                <a:cs typeface="Helvetica Neue"/>
                <a:sym typeface="Helvetica Neue"/>
              </a:rPr>
              <a:t>Thank You</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p:cSld name="Section Divider">
    <p:spTree>
      <p:nvGrpSpPr>
        <p:cNvPr id="44" name="Shape 44"/>
        <p:cNvGrpSpPr/>
        <p:nvPr/>
      </p:nvGrpSpPr>
      <p:grpSpPr>
        <a:xfrm>
          <a:off x="0" y="0"/>
          <a:ext cx="0" cy="0"/>
          <a:chOff x="0" y="0"/>
          <a:chExt cx="0" cy="0"/>
        </a:xfrm>
      </p:grpSpPr>
      <p:sp>
        <p:nvSpPr>
          <p:cNvPr id="45" name="Google Shape;45;p5"/>
          <p:cNvSpPr/>
          <p:nvPr/>
        </p:nvSpPr>
        <p:spPr>
          <a:xfrm>
            <a:off x="0" y="0"/>
            <a:ext cx="9144000" cy="45720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46" name="Google Shape;46;p5"/>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48" name="Google Shape;48;p5"/>
          <p:cNvSpPr txBox="1"/>
          <p:nvPr>
            <p:ph idx="1" type="body"/>
          </p:nvPr>
        </p:nvSpPr>
        <p:spPr>
          <a:xfrm>
            <a:off x="640079" y="2651760"/>
            <a:ext cx="7772400" cy="2742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750"/>
              </a:spcBef>
              <a:spcAft>
                <a:spcPts val="0"/>
              </a:spcAft>
              <a:buClr>
                <a:srgbClr val="58595B"/>
              </a:buClr>
              <a:buSzPts val="1600"/>
              <a:buFont typeface="Helvetica Neue"/>
              <a:buNone/>
              <a:defRPr b="1" i="0" sz="1600" cap="none">
                <a:latin typeface="Helvetica Neue"/>
                <a:ea typeface="Helvetica Neue"/>
                <a:cs typeface="Helvetica Neue"/>
                <a:sym typeface="Helvetica Neue"/>
              </a:defRPr>
            </a:lvl1pPr>
            <a:lvl2pPr indent="-228600" lvl="1" marL="914400" algn="l">
              <a:lnSpc>
                <a:spcPct val="90000"/>
              </a:lnSpc>
              <a:spcBef>
                <a:spcPts val="375"/>
              </a:spcBef>
              <a:spcAft>
                <a:spcPts val="0"/>
              </a:spcAft>
              <a:buClr>
                <a:srgbClr val="58595B"/>
              </a:buClr>
              <a:buSzPts val="1400"/>
              <a:buFont typeface="Helvetica Neue"/>
              <a:buNone/>
              <a:defRPr b="1"/>
            </a:lvl2pPr>
            <a:lvl3pPr indent="-228600" lvl="2" marL="1371600" algn="l">
              <a:lnSpc>
                <a:spcPct val="90000"/>
              </a:lnSpc>
              <a:spcBef>
                <a:spcPts val="375"/>
              </a:spcBef>
              <a:spcAft>
                <a:spcPts val="0"/>
              </a:spcAft>
              <a:buClr>
                <a:srgbClr val="58595B"/>
              </a:buClr>
              <a:buSzPts val="1400"/>
              <a:buFont typeface="Helvetica Neue"/>
              <a:buNone/>
              <a:defRPr b="1"/>
            </a:lvl3pPr>
            <a:lvl4pPr indent="-228600" lvl="3" marL="1828800" algn="l">
              <a:lnSpc>
                <a:spcPct val="90000"/>
              </a:lnSpc>
              <a:spcBef>
                <a:spcPts val="375"/>
              </a:spcBef>
              <a:spcAft>
                <a:spcPts val="0"/>
              </a:spcAft>
              <a:buClr>
                <a:srgbClr val="58595B"/>
              </a:buClr>
              <a:buSzPts val="1400"/>
              <a:buFont typeface="Helvetica Neue"/>
              <a:buNone/>
              <a:defRPr b="1"/>
            </a:lvl4pPr>
            <a:lvl5pPr indent="-228600" lvl="4" marL="2286000" algn="l">
              <a:lnSpc>
                <a:spcPct val="90000"/>
              </a:lnSpc>
              <a:spcBef>
                <a:spcPts val="375"/>
              </a:spcBef>
              <a:spcAft>
                <a:spcPts val="0"/>
              </a:spcAft>
              <a:buClr>
                <a:srgbClr val="58595B"/>
              </a:buClr>
              <a:buSzPts val="1400"/>
              <a:buFont typeface="Helvetica Neue"/>
              <a:buNone/>
              <a:defRPr b="1"/>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49" name="Google Shape;49;p5"/>
          <p:cNvSpPr txBox="1"/>
          <p:nvPr/>
        </p:nvSpPr>
        <p:spPr>
          <a:xfrm>
            <a:off x="640080" y="1874520"/>
            <a:ext cx="7772400" cy="5541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i="0" lang="en" sz="3600">
                <a:solidFill>
                  <a:srgbClr val="58595B"/>
                </a:solidFill>
                <a:latin typeface="Helvetica Neue"/>
                <a:ea typeface="Helvetica Neue"/>
                <a:cs typeface="Helvetica Neue"/>
                <a:sym typeface="Helvetica Neue"/>
              </a:rPr>
              <a:t>Section Divider</a:t>
            </a:r>
            <a:endParaRPr/>
          </a:p>
        </p:txBody>
      </p:sp>
      <p:sp>
        <p:nvSpPr>
          <p:cNvPr id="50" name="Google Shape;50;p5"/>
          <p:cNvSpPr/>
          <p:nvPr/>
        </p:nvSpPr>
        <p:spPr>
          <a:xfrm>
            <a:off x="640080" y="2468880"/>
            <a:ext cx="7772400" cy="36600"/>
          </a:xfrm>
          <a:prstGeom prst="rect">
            <a:avLst/>
          </a:prstGeom>
          <a:solidFill>
            <a:srgbClr val="2C75AC"/>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51" name="Google Shape;51;p5"/>
          <p:cNvSpPr txBox="1"/>
          <p:nvPr/>
        </p:nvSpPr>
        <p:spPr>
          <a:xfrm>
            <a:off x="640080" y="1874520"/>
            <a:ext cx="7772400" cy="5541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i="0" lang="en" sz="3600">
                <a:solidFill>
                  <a:srgbClr val="58595B"/>
                </a:solidFill>
                <a:latin typeface="Helvetica Neue"/>
                <a:ea typeface="Helvetica Neue"/>
                <a:cs typeface="Helvetica Neue"/>
                <a:sym typeface="Helvetica Neue"/>
              </a:rPr>
              <a:t>Section Divider</a:t>
            </a:r>
            <a:endParaRPr/>
          </a:p>
        </p:txBody>
      </p:sp>
      <p:sp>
        <p:nvSpPr>
          <p:cNvPr id="52" name="Google Shape;52;p5"/>
          <p:cNvSpPr txBox="1"/>
          <p:nvPr/>
        </p:nvSpPr>
        <p:spPr>
          <a:xfrm>
            <a:off x="640080" y="1874520"/>
            <a:ext cx="7772400" cy="5541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i="0" lang="en" sz="3600">
                <a:solidFill>
                  <a:srgbClr val="58595B"/>
                </a:solidFill>
                <a:latin typeface="Helvetica Neue"/>
                <a:ea typeface="Helvetica Neue"/>
                <a:cs typeface="Helvetica Neue"/>
                <a:sym typeface="Helvetica Neue"/>
              </a:rPr>
              <a:t>Section Divider</a:t>
            </a:r>
            <a:endParaRPr/>
          </a:p>
        </p:txBody>
      </p:sp>
    </p:spTree>
  </p:cSld>
  <p:clrMapOvr>
    <a:masterClrMapping/>
  </p:clrMapOvr>
  <p:extLst>
    <p:ext uri="{DCECCB84-F9BA-43D5-87BE-67443E8EF086}">
      <p15:sldGuideLst>
        <p15:guide id="1"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copy">
  <p:cSld name="Header w/copy">
    <p:spTree>
      <p:nvGrpSpPr>
        <p:cNvPr id="53" name="Shape 53"/>
        <p:cNvGrpSpPr/>
        <p:nvPr/>
      </p:nvGrpSpPr>
      <p:grpSpPr>
        <a:xfrm>
          <a:off x="0" y="0"/>
          <a:ext cx="0" cy="0"/>
          <a:chOff x="0" y="0"/>
          <a:chExt cx="0" cy="0"/>
        </a:xfrm>
      </p:grpSpPr>
      <p:sp>
        <p:nvSpPr>
          <p:cNvPr id="54" name="Google Shape;54;p6"/>
          <p:cNvSpPr txBox="1"/>
          <p:nvPr>
            <p:ph idx="1" type="body"/>
          </p:nvPr>
        </p:nvSpPr>
        <p:spPr>
          <a:xfrm>
            <a:off x="1097280" y="1554480"/>
            <a:ext cx="6858000" cy="582900"/>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5" name="Google Shape;55;p6"/>
          <p:cNvSpPr txBox="1"/>
          <p:nvPr>
            <p:ph idx="2" type="body"/>
          </p:nvPr>
        </p:nvSpPr>
        <p:spPr>
          <a:xfrm>
            <a:off x="1097280" y="1188720"/>
            <a:ext cx="6858000" cy="215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6" name="Google Shape;56;p6"/>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58" name="Google Shape;58;p6"/>
          <p:cNvSpPr txBox="1"/>
          <p:nvPr>
            <p:ph type="title"/>
          </p:nvPr>
        </p:nvSpPr>
        <p:spPr>
          <a:xfrm>
            <a:off x="640077"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bullets">
  <p:cSld name="Header w/bullets">
    <p:spTree>
      <p:nvGrpSpPr>
        <p:cNvPr id="59" name="Shape 59"/>
        <p:cNvGrpSpPr/>
        <p:nvPr/>
      </p:nvGrpSpPr>
      <p:grpSpPr>
        <a:xfrm>
          <a:off x="0" y="0"/>
          <a:ext cx="0" cy="0"/>
          <a:chOff x="0" y="0"/>
          <a:chExt cx="0" cy="0"/>
        </a:xfrm>
      </p:grpSpPr>
      <p:sp>
        <p:nvSpPr>
          <p:cNvPr id="60" name="Google Shape;60;p7"/>
          <p:cNvSpPr txBox="1"/>
          <p:nvPr>
            <p:ph idx="1" type="body"/>
          </p:nvPr>
        </p:nvSpPr>
        <p:spPr>
          <a:xfrm>
            <a:off x="1097280" y="1554480"/>
            <a:ext cx="6858000" cy="582900"/>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1" name="Google Shape;61;p7"/>
          <p:cNvSpPr txBox="1"/>
          <p:nvPr>
            <p:ph idx="2" type="body"/>
          </p:nvPr>
        </p:nvSpPr>
        <p:spPr>
          <a:xfrm>
            <a:off x="1097280" y="1188720"/>
            <a:ext cx="6858000" cy="215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2" name="Google Shape;62;p7"/>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64" name="Google Shape;64;p7"/>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7"/>
          <p:cNvSpPr txBox="1"/>
          <p:nvPr>
            <p:ph idx="3" type="body"/>
          </p:nvPr>
        </p:nvSpPr>
        <p:spPr>
          <a:xfrm>
            <a:off x="1097281" y="2286000"/>
            <a:ext cx="6858000" cy="388800"/>
          </a:xfrm>
          <a:prstGeom prst="rect">
            <a:avLst/>
          </a:prstGeom>
          <a:noFill/>
          <a:ln>
            <a:noFill/>
          </a:ln>
        </p:spPr>
        <p:txBody>
          <a:bodyPr anchorCtr="0" anchor="t" bIns="0" lIns="365750" spcFirstLastPara="1" rIns="0" wrap="square" tIns="0">
            <a:spAutoFit/>
          </a:bodyPr>
          <a:lstStyle>
            <a:lvl1pPr indent="-317500" lvl="0" marL="457200" algn="l">
              <a:lnSpc>
                <a:spcPct val="90000"/>
              </a:lnSpc>
              <a:spcBef>
                <a:spcPts val="750"/>
              </a:spcBef>
              <a:spcAft>
                <a:spcPts val="0"/>
              </a:spcAft>
              <a:buClr>
                <a:srgbClr val="58595B"/>
              </a:buClr>
              <a:buSzPts val="1400"/>
              <a:buChar char="•"/>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wo columns">
  <p:cSld name="Header w/two columns">
    <p:spTree>
      <p:nvGrpSpPr>
        <p:cNvPr id="66" name="Shape 66"/>
        <p:cNvGrpSpPr/>
        <p:nvPr/>
      </p:nvGrpSpPr>
      <p:grpSpPr>
        <a:xfrm>
          <a:off x="0" y="0"/>
          <a:ext cx="0" cy="0"/>
          <a:chOff x="0" y="0"/>
          <a:chExt cx="0" cy="0"/>
        </a:xfrm>
      </p:grpSpPr>
      <p:sp>
        <p:nvSpPr>
          <p:cNvPr id="67" name="Google Shape;67;p8"/>
          <p:cNvSpPr txBox="1"/>
          <p:nvPr>
            <p:ph idx="1" type="body"/>
          </p:nvPr>
        </p:nvSpPr>
        <p:spPr>
          <a:xfrm>
            <a:off x="1097280" y="1554480"/>
            <a:ext cx="3383400" cy="1205100"/>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8" name="Google Shape;68;p8"/>
          <p:cNvSpPr txBox="1"/>
          <p:nvPr>
            <p:ph idx="2" type="body"/>
          </p:nvPr>
        </p:nvSpPr>
        <p:spPr>
          <a:xfrm>
            <a:off x="1097280" y="1188720"/>
            <a:ext cx="3383400" cy="215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9" name="Google Shape;69;p8"/>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71" name="Google Shape;71;p8"/>
          <p:cNvSpPr txBox="1"/>
          <p:nvPr>
            <p:ph idx="3" type="body"/>
          </p:nvPr>
        </p:nvSpPr>
        <p:spPr>
          <a:xfrm>
            <a:off x="5029200" y="1554480"/>
            <a:ext cx="3383400" cy="1205100"/>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2" name="Google Shape;72;p8"/>
          <p:cNvSpPr txBox="1"/>
          <p:nvPr>
            <p:ph idx="4" type="body"/>
          </p:nvPr>
        </p:nvSpPr>
        <p:spPr>
          <a:xfrm>
            <a:off x="5029200" y="1188720"/>
            <a:ext cx="3383400" cy="215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3" name="Google Shape;73;p8"/>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80">
          <p15:clr>
            <a:srgbClr val="FBAE40"/>
          </p15:clr>
        </p15:guide>
        <p15:guide id="2" pos="30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one image on Left">
  <p:cSld name="Header w/one image on Left">
    <p:spTree>
      <p:nvGrpSpPr>
        <p:cNvPr id="74" name="Shape 74"/>
        <p:cNvGrpSpPr/>
        <p:nvPr/>
      </p:nvGrpSpPr>
      <p:grpSpPr>
        <a:xfrm>
          <a:off x="0" y="0"/>
          <a:ext cx="0" cy="0"/>
          <a:chOff x="0" y="0"/>
          <a:chExt cx="0" cy="0"/>
        </a:xfrm>
      </p:grpSpPr>
      <p:sp>
        <p:nvSpPr>
          <p:cNvPr id="75" name="Google Shape;75;p9"/>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77" name="Google Shape;77;p9"/>
          <p:cNvSpPr txBox="1"/>
          <p:nvPr>
            <p:ph idx="1" type="body"/>
          </p:nvPr>
        </p:nvSpPr>
        <p:spPr>
          <a:xfrm>
            <a:off x="4572000" y="1554480"/>
            <a:ext cx="3840600" cy="1205100"/>
          </a:xfrm>
          <a:prstGeom prst="rect">
            <a:avLst/>
          </a:prstGeom>
          <a:noFill/>
          <a:ln>
            <a:noFill/>
          </a:ln>
        </p:spPr>
        <p:txBody>
          <a:bodyPr anchorCtr="0" anchor="t" bIns="0" lIns="36575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8" name="Google Shape;78;p9"/>
          <p:cNvSpPr txBox="1"/>
          <p:nvPr>
            <p:ph idx="2" type="body"/>
          </p:nvPr>
        </p:nvSpPr>
        <p:spPr>
          <a:xfrm>
            <a:off x="4571999" y="1188720"/>
            <a:ext cx="3840600" cy="215400"/>
          </a:xfrm>
          <a:prstGeom prst="rect">
            <a:avLst/>
          </a:prstGeom>
          <a:noFill/>
          <a:ln>
            <a:noFill/>
          </a:ln>
        </p:spPr>
        <p:txBody>
          <a:bodyPr anchorCtr="0" anchor="t" bIns="0" lIns="36575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9" name="Google Shape;79;p9"/>
          <p:cNvSpPr/>
          <p:nvPr>
            <p:ph idx="3" type="pic"/>
          </p:nvPr>
        </p:nvSpPr>
        <p:spPr>
          <a:xfrm>
            <a:off x="640080" y="1188720"/>
            <a:ext cx="3931800" cy="32919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80" name="Google Shape;80;p9"/>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880">
          <p15:clr>
            <a:srgbClr val="FBAE40"/>
          </p15:clr>
        </p15:guide>
        <p15:guide id="2" pos="31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one image on Right">
  <p:cSld name="Header w/one image on Right">
    <p:spTree>
      <p:nvGrpSpPr>
        <p:cNvPr id="81" name="Shape 81"/>
        <p:cNvGrpSpPr/>
        <p:nvPr/>
      </p:nvGrpSpPr>
      <p:grpSpPr>
        <a:xfrm>
          <a:off x="0" y="0"/>
          <a:ext cx="0" cy="0"/>
          <a:chOff x="0" y="0"/>
          <a:chExt cx="0" cy="0"/>
        </a:xfrm>
      </p:grpSpPr>
      <p:sp>
        <p:nvSpPr>
          <p:cNvPr id="82" name="Google Shape;82;p10"/>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84" name="Google Shape;84;p10"/>
          <p:cNvSpPr txBox="1"/>
          <p:nvPr>
            <p:ph idx="1" type="body"/>
          </p:nvPr>
        </p:nvSpPr>
        <p:spPr>
          <a:xfrm>
            <a:off x="640079" y="1554480"/>
            <a:ext cx="3840600" cy="1205100"/>
          </a:xfrm>
          <a:prstGeom prst="rect">
            <a:avLst/>
          </a:prstGeom>
          <a:noFill/>
          <a:ln>
            <a:noFill/>
          </a:ln>
        </p:spPr>
        <p:txBody>
          <a:bodyPr anchorCtr="0" anchor="t" bIns="0" lIns="0" spcFirstLastPara="1" rIns="36575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85" name="Google Shape;85;p10"/>
          <p:cNvSpPr txBox="1"/>
          <p:nvPr>
            <p:ph idx="2" type="body"/>
          </p:nvPr>
        </p:nvSpPr>
        <p:spPr>
          <a:xfrm>
            <a:off x="640080" y="1188720"/>
            <a:ext cx="3840600" cy="219600"/>
          </a:xfrm>
          <a:prstGeom prst="rect">
            <a:avLst/>
          </a:prstGeom>
          <a:noFill/>
          <a:ln>
            <a:noFill/>
          </a:ln>
        </p:spPr>
        <p:txBody>
          <a:bodyPr anchorCtr="0" anchor="t" bIns="0" lIns="0" spcFirstLastPara="1" rIns="36575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86" name="Google Shape;86;p10"/>
          <p:cNvSpPr/>
          <p:nvPr>
            <p:ph idx="3" type="pic"/>
          </p:nvPr>
        </p:nvSpPr>
        <p:spPr>
          <a:xfrm>
            <a:off x="4480559" y="1188720"/>
            <a:ext cx="3931800" cy="32919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87" name="Google Shape;87;p10"/>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wo images">
  <p:cSld name="Header w/two images">
    <p:spTree>
      <p:nvGrpSpPr>
        <p:cNvPr id="88" name="Shape 88"/>
        <p:cNvGrpSpPr/>
        <p:nvPr/>
      </p:nvGrpSpPr>
      <p:grpSpPr>
        <a:xfrm>
          <a:off x="0" y="0"/>
          <a:ext cx="0" cy="0"/>
          <a:chOff x="0" y="0"/>
          <a:chExt cx="0" cy="0"/>
        </a:xfrm>
      </p:grpSpPr>
      <p:sp>
        <p:nvSpPr>
          <p:cNvPr id="89" name="Google Shape;89;p11"/>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91" name="Google Shape;91;p11"/>
          <p:cNvSpPr/>
          <p:nvPr>
            <p:ph idx="2" type="pic"/>
          </p:nvPr>
        </p:nvSpPr>
        <p:spPr>
          <a:xfrm>
            <a:off x="639952" y="1188720"/>
            <a:ext cx="3749100" cy="20574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92" name="Google Shape;92;p11"/>
          <p:cNvSpPr txBox="1"/>
          <p:nvPr>
            <p:ph idx="1" type="body"/>
          </p:nvPr>
        </p:nvSpPr>
        <p:spPr>
          <a:xfrm>
            <a:off x="640080" y="3291840"/>
            <a:ext cx="3749100" cy="822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93" name="Google Shape;93;p11"/>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1"/>
          <p:cNvSpPr/>
          <p:nvPr>
            <p:ph idx="3" type="pic"/>
          </p:nvPr>
        </p:nvSpPr>
        <p:spPr>
          <a:xfrm>
            <a:off x="4663440" y="1188720"/>
            <a:ext cx="3749100" cy="20574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95" name="Google Shape;95;p11"/>
          <p:cNvSpPr txBox="1"/>
          <p:nvPr>
            <p:ph idx="4" type="body"/>
          </p:nvPr>
        </p:nvSpPr>
        <p:spPr>
          <a:xfrm>
            <a:off x="4663440" y="3291840"/>
            <a:ext cx="3749100" cy="822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header w/two captioned images captions">
  <p:cSld name="Small header w/two captioned images captions">
    <p:spTree>
      <p:nvGrpSpPr>
        <p:cNvPr id="96" name="Shape 96"/>
        <p:cNvGrpSpPr/>
        <p:nvPr/>
      </p:nvGrpSpPr>
      <p:grpSpPr>
        <a:xfrm>
          <a:off x="0" y="0"/>
          <a:ext cx="0" cy="0"/>
          <a:chOff x="0" y="0"/>
          <a:chExt cx="0" cy="0"/>
        </a:xfrm>
      </p:grpSpPr>
      <p:sp>
        <p:nvSpPr>
          <p:cNvPr id="97" name="Google Shape;97;p12"/>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99" name="Google Shape;99;p12"/>
          <p:cNvSpPr/>
          <p:nvPr/>
        </p:nvSpPr>
        <p:spPr>
          <a:xfrm>
            <a:off x="0" y="0"/>
            <a:ext cx="9144000" cy="1168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Helvetica Neue"/>
              <a:ea typeface="Helvetica Neue"/>
              <a:cs typeface="Helvetica Neue"/>
              <a:sym typeface="Helvetica Neue"/>
            </a:endParaRPr>
          </a:p>
        </p:txBody>
      </p:sp>
      <p:sp>
        <p:nvSpPr>
          <p:cNvPr id="100" name="Google Shape;100;p12"/>
          <p:cNvSpPr txBox="1"/>
          <p:nvPr/>
        </p:nvSpPr>
        <p:spPr>
          <a:xfrm>
            <a:off x="640079" y="365760"/>
            <a:ext cx="7772400" cy="274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58595B"/>
              </a:buClr>
              <a:buSzPts val="1800"/>
              <a:buFont typeface="Helvetica Neue"/>
              <a:buNone/>
            </a:pPr>
            <a:r>
              <a:rPr b="1" i="0" lang="en" sz="1800">
                <a:solidFill>
                  <a:srgbClr val="58595B"/>
                </a:solidFill>
                <a:latin typeface="Helvetica Neue"/>
                <a:ea typeface="Helvetica Neue"/>
                <a:cs typeface="Helvetica Neue"/>
                <a:sym typeface="Helvetica Neue"/>
              </a:rPr>
              <a:t>Small Header w/two captioned images</a:t>
            </a:r>
            <a:endParaRPr/>
          </a:p>
        </p:txBody>
      </p:sp>
      <p:sp>
        <p:nvSpPr>
          <p:cNvPr id="101" name="Google Shape;101;p12"/>
          <p:cNvSpPr/>
          <p:nvPr/>
        </p:nvSpPr>
        <p:spPr>
          <a:xfrm>
            <a:off x="640080" y="673649"/>
            <a:ext cx="7772400" cy="36600"/>
          </a:xfrm>
          <a:prstGeom prst="rect">
            <a:avLst/>
          </a:prstGeom>
          <a:solidFill>
            <a:srgbClr val="2774AE"/>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102" name="Google Shape;102;p12"/>
          <p:cNvSpPr txBox="1"/>
          <p:nvPr>
            <p:ph idx="1" type="body"/>
          </p:nvPr>
        </p:nvSpPr>
        <p:spPr>
          <a:xfrm>
            <a:off x="639950" y="4114800"/>
            <a:ext cx="3749100" cy="134100"/>
          </a:xfrm>
          <a:prstGeom prst="rect">
            <a:avLst/>
          </a:prstGeom>
          <a:noFill/>
          <a:ln>
            <a:noFill/>
          </a:ln>
        </p:spPr>
        <p:txBody>
          <a:bodyPr anchorCtr="0" anchor="t" bIns="0" lIns="0" spcFirstLastPara="1" rIns="0" wrap="square" tIns="0">
            <a:spAutoFit/>
          </a:bodyPr>
          <a:lstStyle>
            <a:lvl1pPr indent="-228600" lvl="0" marL="457200" algn="l">
              <a:lnSpc>
                <a:spcPct val="137500"/>
              </a:lnSpc>
              <a:spcBef>
                <a:spcPts val="750"/>
              </a:spcBef>
              <a:spcAft>
                <a:spcPts val="0"/>
              </a:spcAft>
              <a:buClr>
                <a:srgbClr val="58595B"/>
              </a:buClr>
              <a:buSzPts val="800"/>
              <a:buNone/>
              <a:defRPr sz="800">
                <a:latin typeface="Helvetica Neue"/>
                <a:ea typeface="Helvetica Neue"/>
                <a:cs typeface="Helvetica Neue"/>
                <a:sym typeface="Helvetica Neue"/>
              </a:defRPr>
            </a:lvl1pPr>
            <a:lvl2pPr indent="-279400" lvl="1" marL="9144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2pPr>
            <a:lvl3pPr indent="-279400" lvl="2" marL="13716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3pPr>
            <a:lvl4pPr indent="-279400" lvl="3" marL="18288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4pPr>
            <a:lvl5pPr indent="-279400" lvl="4" marL="22860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03" name="Google Shape;103;p12"/>
          <p:cNvSpPr/>
          <p:nvPr/>
        </p:nvSpPr>
        <p:spPr>
          <a:xfrm>
            <a:off x="0" y="0"/>
            <a:ext cx="9144000" cy="1168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Helvetica Neue"/>
              <a:ea typeface="Helvetica Neue"/>
              <a:cs typeface="Helvetica Neue"/>
              <a:sym typeface="Helvetica Neue"/>
            </a:endParaRPr>
          </a:p>
        </p:txBody>
      </p:sp>
      <p:sp>
        <p:nvSpPr>
          <p:cNvPr id="104" name="Google Shape;104;p12"/>
          <p:cNvSpPr txBox="1"/>
          <p:nvPr/>
        </p:nvSpPr>
        <p:spPr>
          <a:xfrm>
            <a:off x="640079" y="365760"/>
            <a:ext cx="7772400" cy="274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58595B"/>
              </a:buClr>
              <a:buSzPts val="1800"/>
              <a:buFont typeface="Helvetica Neue"/>
              <a:buNone/>
            </a:pPr>
            <a:r>
              <a:rPr b="1" i="0" lang="en" sz="1800">
                <a:solidFill>
                  <a:srgbClr val="58595B"/>
                </a:solidFill>
                <a:latin typeface="Helvetica Neue"/>
                <a:ea typeface="Helvetica Neue"/>
                <a:cs typeface="Helvetica Neue"/>
                <a:sym typeface="Helvetica Neue"/>
              </a:rPr>
              <a:t>Small Header w/two captioned images</a:t>
            </a:r>
            <a:endParaRPr/>
          </a:p>
        </p:txBody>
      </p:sp>
      <p:sp>
        <p:nvSpPr>
          <p:cNvPr id="105" name="Google Shape;105;p12"/>
          <p:cNvSpPr/>
          <p:nvPr/>
        </p:nvSpPr>
        <p:spPr>
          <a:xfrm>
            <a:off x="640080" y="673649"/>
            <a:ext cx="7772400" cy="36600"/>
          </a:xfrm>
          <a:prstGeom prst="rect">
            <a:avLst/>
          </a:prstGeom>
          <a:solidFill>
            <a:srgbClr val="2774AE"/>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106" name="Google Shape;106;p12"/>
          <p:cNvSpPr/>
          <p:nvPr>
            <p:ph idx="2" type="pic"/>
          </p:nvPr>
        </p:nvSpPr>
        <p:spPr>
          <a:xfrm>
            <a:off x="639951" y="1038977"/>
            <a:ext cx="3749100" cy="3017400"/>
          </a:xfrm>
          <a:prstGeom prst="rect">
            <a:avLst/>
          </a:prstGeom>
          <a:solidFill>
            <a:srgbClr val="DBE7F5"/>
          </a:solidFill>
          <a:ln>
            <a:noFill/>
          </a:ln>
        </p:spPr>
        <p:txBody>
          <a:bodyPr anchorCtr="1" anchor="t" bIns="0" lIns="0" spcFirstLastPara="1" rIns="0" wrap="square" tIns="182875">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107" name="Google Shape;107;p12"/>
          <p:cNvSpPr txBox="1"/>
          <p:nvPr>
            <p:ph idx="3" type="body"/>
          </p:nvPr>
        </p:nvSpPr>
        <p:spPr>
          <a:xfrm>
            <a:off x="4663439" y="4114800"/>
            <a:ext cx="3749100" cy="134100"/>
          </a:xfrm>
          <a:prstGeom prst="rect">
            <a:avLst/>
          </a:prstGeom>
          <a:noFill/>
          <a:ln>
            <a:noFill/>
          </a:ln>
        </p:spPr>
        <p:txBody>
          <a:bodyPr anchorCtr="0" anchor="t" bIns="0" lIns="0" spcFirstLastPara="1" rIns="0" wrap="square" tIns="0">
            <a:spAutoFit/>
          </a:bodyPr>
          <a:lstStyle>
            <a:lvl1pPr indent="-228600" lvl="0" marL="457200" algn="l">
              <a:lnSpc>
                <a:spcPct val="137500"/>
              </a:lnSpc>
              <a:spcBef>
                <a:spcPts val="750"/>
              </a:spcBef>
              <a:spcAft>
                <a:spcPts val="0"/>
              </a:spcAft>
              <a:buClr>
                <a:srgbClr val="58595B"/>
              </a:buClr>
              <a:buSzPts val="800"/>
              <a:buNone/>
              <a:defRPr sz="800">
                <a:latin typeface="Helvetica Neue"/>
                <a:ea typeface="Helvetica Neue"/>
                <a:cs typeface="Helvetica Neue"/>
                <a:sym typeface="Helvetica Neue"/>
              </a:defRPr>
            </a:lvl1pPr>
            <a:lvl2pPr indent="-279400" lvl="1" marL="9144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2pPr>
            <a:lvl3pPr indent="-279400" lvl="2" marL="13716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3pPr>
            <a:lvl4pPr indent="-279400" lvl="3" marL="18288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4pPr>
            <a:lvl5pPr indent="-279400" lvl="4" marL="2286000" algn="l">
              <a:lnSpc>
                <a:spcPct val="90000"/>
              </a:lnSpc>
              <a:spcBef>
                <a:spcPts val="375"/>
              </a:spcBef>
              <a:spcAft>
                <a:spcPts val="0"/>
              </a:spcAft>
              <a:buClr>
                <a:srgbClr val="58595B"/>
              </a:buClr>
              <a:buSzPts val="800"/>
              <a:buChar char="•"/>
              <a:defRPr sz="800">
                <a:latin typeface="Helvetica Neue"/>
                <a:ea typeface="Helvetica Neue"/>
                <a:cs typeface="Helvetica Neue"/>
                <a:sym typeface="Helvetica Neue"/>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08" name="Google Shape;108;p12"/>
          <p:cNvSpPr/>
          <p:nvPr>
            <p:ph idx="4" type="pic"/>
          </p:nvPr>
        </p:nvSpPr>
        <p:spPr>
          <a:xfrm>
            <a:off x="4663440" y="1038977"/>
            <a:ext cx="3749100" cy="3017400"/>
          </a:xfrm>
          <a:prstGeom prst="rect">
            <a:avLst/>
          </a:prstGeom>
          <a:solidFill>
            <a:srgbClr val="DBE7F5"/>
          </a:solidFill>
          <a:ln>
            <a:noFill/>
          </a:ln>
        </p:spPr>
        <p:txBody>
          <a:bodyPr anchorCtr="1" anchor="t" bIns="0" lIns="0" spcFirstLastPara="1" rIns="0" wrap="square" tIns="182875">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three images">
  <p:cSld name="Header w/three images">
    <p:spTree>
      <p:nvGrpSpPr>
        <p:cNvPr id="109" name="Shape 109"/>
        <p:cNvGrpSpPr/>
        <p:nvPr/>
      </p:nvGrpSpPr>
      <p:grpSpPr>
        <a:xfrm>
          <a:off x="0" y="0"/>
          <a:ext cx="0" cy="0"/>
          <a:chOff x="0" y="0"/>
          <a:chExt cx="0" cy="0"/>
        </a:xfrm>
      </p:grpSpPr>
      <p:sp>
        <p:nvSpPr>
          <p:cNvPr id="110" name="Google Shape;110;p13"/>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3"/>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12" name="Google Shape;112;p13"/>
          <p:cNvSpPr/>
          <p:nvPr>
            <p:ph idx="2" type="pic"/>
          </p:nvPr>
        </p:nvSpPr>
        <p:spPr>
          <a:xfrm>
            <a:off x="639952" y="1188720"/>
            <a:ext cx="2469000" cy="20574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113" name="Google Shape;113;p13"/>
          <p:cNvSpPr txBox="1"/>
          <p:nvPr>
            <p:ph idx="1" type="body"/>
          </p:nvPr>
        </p:nvSpPr>
        <p:spPr>
          <a:xfrm>
            <a:off x="5943600" y="3291840"/>
            <a:ext cx="2469000" cy="1005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14" name="Google Shape;114;p13"/>
          <p:cNvSpPr/>
          <p:nvPr>
            <p:ph idx="3" type="pic"/>
          </p:nvPr>
        </p:nvSpPr>
        <p:spPr>
          <a:xfrm>
            <a:off x="5943600" y="1188720"/>
            <a:ext cx="2469000" cy="20574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115" name="Google Shape;115;p13"/>
          <p:cNvSpPr txBox="1"/>
          <p:nvPr>
            <p:ph idx="4" type="body"/>
          </p:nvPr>
        </p:nvSpPr>
        <p:spPr>
          <a:xfrm>
            <a:off x="3291840" y="3291840"/>
            <a:ext cx="2469000" cy="1005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16" name="Google Shape;116;p13"/>
          <p:cNvSpPr/>
          <p:nvPr>
            <p:ph idx="5" type="pic"/>
          </p:nvPr>
        </p:nvSpPr>
        <p:spPr>
          <a:xfrm>
            <a:off x="3291776" y="1188720"/>
            <a:ext cx="2469000" cy="20574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117" name="Google Shape;117;p13"/>
          <p:cNvSpPr txBox="1"/>
          <p:nvPr>
            <p:ph idx="6" type="body"/>
          </p:nvPr>
        </p:nvSpPr>
        <p:spPr>
          <a:xfrm>
            <a:off x="640080" y="3291840"/>
            <a:ext cx="2469000" cy="10059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18" name="Google Shape;118;p13"/>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wide image">
  <p:cSld name="Header/wide image">
    <p:spTree>
      <p:nvGrpSpPr>
        <p:cNvPr id="119" name="Shape 119"/>
        <p:cNvGrpSpPr/>
        <p:nvPr/>
      </p:nvGrpSpPr>
      <p:grpSpPr>
        <a:xfrm>
          <a:off x="0" y="0"/>
          <a:ext cx="0" cy="0"/>
          <a:chOff x="0" y="0"/>
          <a:chExt cx="0" cy="0"/>
        </a:xfrm>
      </p:grpSpPr>
      <p:sp>
        <p:nvSpPr>
          <p:cNvPr id="120" name="Google Shape;120;p14"/>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4"/>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22" name="Google Shape;122;p14"/>
          <p:cNvSpPr txBox="1"/>
          <p:nvPr>
            <p:ph idx="1" type="body"/>
          </p:nvPr>
        </p:nvSpPr>
        <p:spPr>
          <a:xfrm>
            <a:off x="640080" y="3657600"/>
            <a:ext cx="7772400" cy="640200"/>
          </a:xfrm>
          <a:prstGeom prst="rect">
            <a:avLst/>
          </a:prstGeom>
          <a:noFill/>
          <a:ln>
            <a:noFill/>
          </a:ln>
        </p:spPr>
        <p:txBody>
          <a:bodyPr anchorCtr="0" anchor="t" bIns="0" lIns="0" spcFirstLastPara="1" rIns="0" wrap="square" tIns="182875">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23" name="Google Shape;123;p14"/>
          <p:cNvSpPr/>
          <p:nvPr>
            <p:ph idx="2" type="pic"/>
          </p:nvPr>
        </p:nvSpPr>
        <p:spPr>
          <a:xfrm>
            <a:off x="640080" y="1188720"/>
            <a:ext cx="7772400" cy="24231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124" name="Google Shape;124;p14"/>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w/video">
  <p:cSld name="1_Header w/video">
    <p:spTree>
      <p:nvGrpSpPr>
        <p:cNvPr id="125" name="Shape 125"/>
        <p:cNvGrpSpPr/>
        <p:nvPr/>
      </p:nvGrpSpPr>
      <p:grpSpPr>
        <a:xfrm>
          <a:off x="0" y="0"/>
          <a:ext cx="0" cy="0"/>
          <a:chOff x="0" y="0"/>
          <a:chExt cx="0" cy="0"/>
        </a:xfrm>
      </p:grpSpPr>
      <p:sp>
        <p:nvSpPr>
          <p:cNvPr id="126" name="Google Shape;126;p15"/>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5"/>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28" name="Google Shape;128;p15"/>
          <p:cNvSpPr/>
          <p:nvPr>
            <p:ph idx="2" type="pic"/>
          </p:nvPr>
        </p:nvSpPr>
        <p:spPr>
          <a:xfrm>
            <a:off x="1828800" y="1188720"/>
            <a:ext cx="5486400" cy="30174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129" name="Google Shape;129;p15"/>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video and copy">
  <p:cSld name="Header w/video and copy">
    <p:spTree>
      <p:nvGrpSpPr>
        <p:cNvPr id="130" name="Shape 130"/>
        <p:cNvGrpSpPr/>
        <p:nvPr/>
      </p:nvGrpSpPr>
      <p:grpSpPr>
        <a:xfrm>
          <a:off x="0" y="0"/>
          <a:ext cx="0" cy="0"/>
          <a:chOff x="0" y="0"/>
          <a:chExt cx="0" cy="0"/>
        </a:xfrm>
      </p:grpSpPr>
      <p:sp>
        <p:nvSpPr>
          <p:cNvPr id="131" name="Google Shape;131;p16"/>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6"/>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33" name="Google Shape;133;p16"/>
          <p:cNvSpPr txBox="1"/>
          <p:nvPr>
            <p:ph idx="1" type="body"/>
          </p:nvPr>
        </p:nvSpPr>
        <p:spPr>
          <a:xfrm>
            <a:off x="5669280" y="1554480"/>
            <a:ext cx="2743200" cy="1005900"/>
          </a:xfrm>
          <a:prstGeom prst="rect">
            <a:avLst/>
          </a:prstGeom>
          <a:noFill/>
          <a:ln>
            <a:noFill/>
          </a:ln>
        </p:spPr>
        <p:txBody>
          <a:bodyPr anchorCtr="0" anchor="t" bIns="0" lIns="365750" spcFirstLastPara="1" rIns="0" wrap="square" tIns="0">
            <a:spAutoFit/>
          </a:bodyPr>
          <a:lstStyle>
            <a:lvl1pPr indent="-228600" lvl="0" marL="457200" marR="0" algn="l">
              <a:lnSpc>
                <a:spcPct val="100000"/>
              </a:lnSpc>
              <a:spcBef>
                <a:spcPts val="750"/>
              </a:spcBef>
              <a:spcAft>
                <a:spcPts val="0"/>
              </a:spcAft>
              <a:buClr>
                <a:srgbClr val="58595B"/>
              </a:buClr>
              <a:buSzPts val="1400"/>
              <a:buFont typeface="Arial"/>
              <a:buNone/>
              <a:defRPr b="0" i="0">
                <a:solidFill>
                  <a:srgbClr val="58595B"/>
                </a:solidFill>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34" name="Google Shape;134;p16"/>
          <p:cNvSpPr txBox="1"/>
          <p:nvPr>
            <p:ph idx="2" type="body"/>
          </p:nvPr>
        </p:nvSpPr>
        <p:spPr>
          <a:xfrm>
            <a:off x="5669280" y="1188720"/>
            <a:ext cx="2743200" cy="215400"/>
          </a:xfrm>
          <a:prstGeom prst="rect">
            <a:avLst/>
          </a:prstGeom>
          <a:noFill/>
          <a:ln>
            <a:noFill/>
          </a:ln>
        </p:spPr>
        <p:txBody>
          <a:bodyPr anchorCtr="0" anchor="t" bIns="0" lIns="365750" spcFirstLastPara="1" rIns="0" wrap="square" tIns="0">
            <a:spAutoFit/>
          </a:bodyPr>
          <a:lstStyle>
            <a:lvl1pPr indent="-228600" lvl="0" marL="457200" algn="l">
              <a:lnSpc>
                <a:spcPct val="100000"/>
              </a:lnSpc>
              <a:spcBef>
                <a:spcPts val="750"/>
              </a:spcBef>
              <a:spcAft>
                <a:spcPts val="0"/>
              </a:spcAft>
              <a:buClr>
                <a:srgbClr val="58595B"/>
              </a:buClr>
              <a:buSzPts val="1400"/>
              <a:buFont typeface="Helvetica Neue"/>
              <a:buNone/>
              <a:defRPr b="1" i="0" cap="none">
                <a:latin typeface="Helvetica Neue"/>
                <a:ea typeface="Helvetica Neue"/>
                <a:cs typeface="Helvetica Neue"/>
                <a:sym typeface="Helvetica Neue"/>
              </a:defRPr>
            </a:lvl1pPr>
            <a:lvl2pPr indent="-342900" lvl="1" marL="914400" algn="l">
              <a:lnSpc>
                <a:spcPct val="90000"/>
              </a:lnSpc>
              <a:spcBef>
                <a:spcPts val="375"/>
              </a:spcBef>
              <a:spcAft>
                <a:spcPts val="0"/>
              </a:spcAft>
              <a:buClr>
                <a:srgbClr val="58595B"/>
              </a:buClr>
              <a:buSzPts val="1800"/>
              <a:buChar char="•"/>
              <a:defRPr/>
            </a:lvl2pPr>
            <a:lvl3pPr indent="-342900" lvl="2" marL="1371600" algn="l">
              <a:lnSpc>
                <a:spcPct val="90000"/>
              </a:lnSpc>
              <a:spcBef>
                <a:spcPts val="375"/>
              </a:spcBef>
              <a:spcAft>
                <a:spcPts val="0"/>
              </a:spcAft>
              <a:buClr>
                <a:srgbClr val="58595B"/>
              </a:buClr>
              <a:buSzPts val="1800"/>
              <a:buChar char="•"/>
              <a:defRPr/>
            </a:lvl3pPr>
            <a:lvl4pPr indent="-342900" lvl="3" marL="1828800" algn="l">
              <a:lnSpc>
                <a:spcPct val="90000"/>
              </a:lnSpc>
              <a:spcBef>
                <a:spcPts val="375"/>
              </a:spcBef>
              <a:spcAft>
                <a:spcPts val="0"/>
              </a:spcAft>
              <a:buClr>
                <a:srgbClr val="58595B"/>
              </a:buClr>
              <a:buSzPts val="1800"/>
              <a:buChar char="•"/>
              <a:defRPr/>
            </a:lvl4pPr>
            <a:lvl5pPr indent="-342900" lvl="4" marL="2286000" algn="l">
              <a:lnSpc>
                <a:spcPct val="90000"/>
              </a:lnSpc>
              <a:spcBef>
                <a:spcPts val="375"/>
              </a:spcBef>
              <a:spcAft>
                <a:spcPts val="0"/>
              </a:spcAft>
              <a:buClr>
                <a:srgbClr val="58595B"/>
              </a:buClr>
              <a:buSzPts val="1800"/>
              <a:buChar char="•"/>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35" name="Google Shape;135;p16"/>
          <p:cNvSpPr/>
          <p:nvPr>
            <p:ph idx="3" type="media"/>
          </p:nvPr>
        </p:nvSpPr>
        <p:spPr>
          <a:xfrm>
            <a:off x="640080" y="1188720"/>
            <a:ext cx="5029200" cy="2834700"/>
          </a:xfrm>
          <a:prstGeom prst="rect">
            <a:avLst/>
          </a:prstGeom>
          <a:solidFill>
            <a:srgbClr val="DBE7F5"/>
          </a:solidFill>
          <a:ln>
            <a:noFill/>
          </a:ln>
        </p:spPr>
        <p:txBody>
          <a:bodyPr anchorCtr="1" anchor="t" bIns="0" lIns="0" spcFirstLastPara="1" rIns="0" wrap="square" tIns="0">
            <a:noAutofit/>
          </a:bodyPr>
          <a:lstStyle>
            <a:lvl1pPr lvl="0" marR="0" rtl="0" algn="ctr">
              <a:lnSpc>
                <a:spcPct val="90000"/>
              </a:lnSpc>
              <a:spcBef>
                <a:spcPts val="750"/>
              </a:spcBef>
              <a:spcAft>
                <a:spcPts val="0"/>
              </a:spcAft>
              <a:buClr>
                <a:srgbClr val="898989"/>
              </a:buClr>
              <a:buSzPts val="1400"/>
              <a:buFont typeface="Arial"/>
              <a:buNone/>
              <a:defRPr b="0" i="0" sz="1400" u="none" cap="none" strike="noStrike">
                <a:solidFill>
                  <a:srgbClr val="898989"/>
                </a:solidFill>
                <a:latin typeface="Helvetica Neue"/>
                <a:ea typeface="Helvetica Neue"/>
                <a:cs typeface="Helvetica Neue"/>
                <a:sym typeface="Helvetica Neue"/>
              </a:defRPr>
            </a:lvl1pPr>
            <a:lvl2pPr lvl="1"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lvl="2"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lvl="3"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lvl="4"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lvl="5"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lvl="6"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lvl="7"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lvl="8"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
        <p:nvSpPr>
          <p:cNvPr id="136" name="Google Shape;136;p16"/>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58595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white background">
  <p:cSld name="Statement w/white background">
    <p:spTree>
      <p:nvGrpSpPr>
        <p:cNvPr id="137" name="Shape 137"/>
        <p:cNvGrpSpPr/>
        <p:nvPr/>
      </p:nvGrpSpPr>
      <p:grpSpPr>
        <a:xfrm>
          <a:off x="0" y="0"/>
          <a:ext cx="0" cy="0"/>
          <a:chOff x="0" y="0"/>
          <a:chExt cx="0" cy="0"/>
        </a:xfrm>
      </p:grpSpPr>
      <p:sp>
        <p:nvSpPr>
          <p:cNvPr id="138" name="Google Shape;138;p17"/>
          <p:cNvSpPr/>
          <p:nvPr/>
        </p:nvSpPr>
        <p:spPr>
          <a:xfrm>
            <a:off x="0" y="1"/>
            <a:ext cx="9144000" cy="459930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4000">
              <a:solidFill>
                <a:schemeClr val="lt1"/>
              </a:solidFill>
              <a:latin typeface="Helvetica Neue"/>
              <a:ea typeface="Helvetica Neue"/>
              <a:cs typeface="Helvetica Neue"/>
              <a:sym typeface="Helvetica Neue"/>
            </a:endParaRPr>
          </a:p>
        </p:txBody>
      </p:sp>
      <p:sp>
        <p:nvSpPr>
          <p:cNvPr id="139" name="Google Shape;139;p17"/>
          <p:cNvSpPr txBox="1"/>
          <p:nvPr>
            <p:ph idx="10" type="dt"/>
          </p:nvPr>
        </p:nvSpPr>
        <p:spPr>
          <a:xfrm>
            <a:off x="7407534" y="4754880"/>
            <a:ext cx="941700" cy="365700"/>
          </a:xfrm>
          <a:prstGeom prst="rect">
            <a:avLst/>
          </a:prstGeom>
          <a:noFill/>
          <a:ln>
            <a:noFill/>
          </a:ln>
        </p:spPr>
        <p:txBody>
          <a:bodyPr anchorCtr="0" anchor="t" bIns="256025" lIns="0" spcFirstLastPara="1" rIns="0" wrap="square" tIns="0">
            <a:sp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7"/>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141" name="Google Shape;141;p17"/>
          <p:cNvSpPr txBox="1"/>
          <p:nvPr>
            <p:ph idx="1" type="body"/>
          </p:nvPr>
        </p:nvSpPr>
        <p:spPr>
          <a:xfrm>
            <a:off x="1371600" y="1371600"/>
            <a:ext cx="6400800" cy="1665000"/>
          </a:xfrm>
          <a:prstGeom prst="rect">
            <a:avLst/>
          </a:prstGeom>
          <a:noFill/>
          <a:ln>
            <a:noFill/>
          </a:ln>
        </p:spPr>
        <p:txBody>
          <a:bodyPr anchorCtr="0" anchor="ctr" bIns="0" lIns="0" spcFirstLastPara="1" rIns="0" wrap="square" tIns="0">
            <a:spAutoFit/>
          </a:bodyPr>
          <a:lstStyle>
            <a:lvl1pPr indent="-228600" lvl="0" marL="457200" algn="ctr">
              <a:lnSpc>
                <a:spcPct val="90000"/>
              </a:lnSpc>
              <a:spcBef>
                <a:spcPts val="750"/>
              </a:spcBef>
              <a:spcAft>
                <a:spcPts val="0"/>
              </a:spcAft>
              <a:buClr>
                <a:srgbClr val="2774AE"/>
              </a:buClr>
              <a:buSzPts val="4000"/>
              <a:buNone/>
              <a:defRPr sz="4000">
                <a:solidFill>
                  <a:srgbClr val="2774AE"/>
                </a:solidFill>
              </a:defRPr>
            </a:lvl1pPr>
            <a:lvl2pPr indent="-228600" lvl="1" marL="914400" algn="ctr">
              <a:lnSpc>
                <a:spcPct val="90000"/>
              </a:lnSpc>
              <a:spcBef>
                <a:spcPts val="375"/>
              </a:spcBef>
              <a:spcAft>
                <a:spcPts val="0"/>
              </a:spcAft>
              <a:buClr>
                <a:srgbClr val="2774AE"/>
              </a:buClr>
              <a:buSzPts val="4000"/>
              <a:buNone/>
              <a:defRPr sz="4000">
                <a:solidFill>
                  <a:srgbClr val="2774AE"/>
                </a:solidFill>
              </a:defRPr>
            </a:lvl2pPr>
            <a:lvl3pPr indent="-228600" lvl="2" marL="1371600" algn="ctr">
              <a:lnSpc>
                <a:spcPct val="90000"/>
              </a:lnSpc>
              <a:spcBef>
                <a:spcPts val="375"/>
              </a:spcBef>
              <a:spcAft>
                <a:spcPts val="0"/>
              </a:spcAft>
              <a:buClr>
                <a:srgbClr val="2774AE"/>
              </a:buClr>
              <a:buSzPts val="4000"/>
              <a:buNone/>
              <a:defRPr sz="4000">
                <a:solidFill>
                  <a:srgbClr val="2774AE"/>
                </a:solidFill>
              </a:defRPr>
            </a:lvl3pPr>
            <a:lvl4pPr indent="-228600" lvl="3" marL="1828800" algn="ctr">
              <a:lnSpc>
                <a:spcPct val="90000"/>
              </a:lnSpc>
              <a:spcBef>
                <a:spcPts val="375"/>
              </a:spcBef>
              <a:spcAft>
                <a:spcPts val="0"/>
              </a:spcAft>
              <a:buClr>
                <a:srgbClr val="2774AE"/>
              </a:buClr>
              <a:buSzPts val="4000"/>
              <a:buNone/>
              <a:defRPr sz="4000">
                <a:solidFill>
                  <a:srgbClr val="2774AE"/>
                </a:solidFill>
              </a:defRPr>
            </a:lvl4pPr>
            <a:lvl5pPr indent="-228600" lvl="4" marL="2286000" algn="ctr">
              <a:lnSpc>
                <a:spcPct val="90000"/>
              </a:lnSpc>
              <a:spcBef>
                <a:spcPts val="375"/>
              </a:spcBef>
              <a:spcAft>
                <a:spcPts val="0"/>
              </a:spcAft>
              <a:buClr>
                <a:srgbClr val="2774AE"/>
              </a:buClr>
              <a:buSzPts val="4000"/>
              <a:buNone/>
              <a:defRPr sz="4000">
                <a:solidFill>
                  <a:srgbClr val="2774AE"/>
                </a:solidFill>
              </a:defRPr>
            </a:lvl5pPr>
            <a:lvl6pPr indent="-228600" lvl="5" marL="2743200" algn="l">
              <a:lnSpc>
                <a:spcPct val="90000"/>
              </a:lnSpc>
              <a:spcBef>
                <a:spcPts val="0"/>
              </a:spcBef>
              <a:spcAft>
                <a:spcPts val="0"/>
              </a:spcAft>
              <a:buClr>
                <a:schemeClr val="dk1"/>
              </a:buClr>
              <a:buSzPts val="1800"/>
              <a:buNone/>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2" name="Shape 142"/>
        <p:cNvGrpSpPr/>
        <p:nvPr/>
      </p:nvGrpSpPr>
      <p:grpSpPr>
        <a:xfrm>
          <a:off x="0" y="0"/>
          <a:ext cx="0" cy="0"/>
          <a:chOff x="0" y="0"/>
          <a:chExt cx="0" cy="0"/>
        </a:xfrm>
      </p:grpSpPr>
      <p:sp>
        <p:nvSpPr>
          <p:cNvPr id="143" name="Google Shape;143;p18"/>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4" name="Google Shape;144;p18"/>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rtl="0" algn="ctr">
              <a:lnSpc>
                <a:spcPct val="100000"/>
              </a:lnSpc>
              <a:spcBef>
                <a:spcPts val="750"/>
              </a:spcBef>
              <a:spcAft>
                <a:spcPts val="0"/>
              </a:spcAft>
              <a:buSzPts val="2800"/>
              <a:buNone/>
              <a:defRPr sz="2800"/>
            </a:lvl1pPr>
            <a:lvl2pPr lvl="1" rtl="0" algn="ctr">
              <a:lnSpc>
                <a:spcPct val="100000"/>
              </a:lnSpc>
              <a:spcBef>
                <a:spcPts val="375"/>
              </a:spcBef>
              <a:spcAft>
                <a:spcPts val="0"/>
              </a:spcAft>
              <a:buSzPts val="2800"/>
              <a:buNone/>
              <a:defRPr sz="2800"/>
            </a:lvl2pPr>
            <a:lvl3pPr lvl="2" rtl="0" algn="ctr">
              <a:lnSpc>
                <a:spcPct val="100000"/>
              </a:lnSpc>
              <a:spcBef>
                <a:spcPts val="375"/>
              </a:spcBef>
              <a:spcAft>
                <a:spcPts val="0"/>
              </a:spcAft>
              <a:buSzPts val="2800"/>
              <a:buNone/>
              <a:defRPr sz="2800"/>
            </a:lvl3pPr>
            <a:lvl4pPr lvl="3" rtl="0" algn="ctr">
              <a:lnSpc>
                <a:spcPct val="100000"/>
              </a:lnSpc>
              <a:spcBef>
                <a:spcPts val="375"/>
              </a:spcBef>
              <a:spcAft>
                <a:spcPts val="0"/>
              </a:spcAft>
              <a:buSzPts val="2800"/>
              <a:buNone/>
              <a:defRPr sz="2800"/>
            </a:lvl4pPr>
            <a:lvl5pPr lvl="4" rtl="0" algn="ctr">
              <a:lnSpc>
                <a:spcPct val="100000"/>
              </a:lnSpc>
              <a:spcBef>
                <a:spcPts val="375"/>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375"/>
              </a:spcBef>
              <a:spcAft>
                <a:spcPts val="0"/>
              </a:spcAft>
              <a:buSzPts val="2800"/>
              <a:buNone/>
              <a:defRPr sz="2800"/>
            </a:lvl9pPr>
          </a:lstStyle>
          <a:p/>
        </p:txBody>
      </p:sp>
      <p:sp>
        <p:nvSpPr>
          <p:cNvPr id="145" name="Google Shape;145;p18"/>
          <p:cNvSpPr txBox="1"/>
          <p:nvPr>
            <p:ph idx="12" type="sldNum"/>
          </p:nvPr>
        </p:nvSpPr>
        <p:spPr>
          <a:xfrm>
            <a:off x="8472458" y="4663217"/>
            <a:ext cx="548700" cy="381600"/>
          </a:xfrm>
          <a:prstGeom prst="rect">
            <a:avLst/>
          </a:prstGeom>
        </p:spPr>
        <p:txBody>
          <a:bodyPr anchorCtr="0" anchor="t" bIns="256025" lIns="0" spcFirstLastPara="1" rIns="0" wrap="square" tIns="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6" name="Shape 146"/>
        <p:cNvGrpSpPr/>
        <p:nvPr/>
      </p:nvGrpSpPr>
      <p:grpSpPr>
        <a:xfrm>
          <a:off x="0" y="0"/>
          <a:ext cx="0" cy="0"/>
          <a:chOff x="0" y="0"/>
          <a:chExt cx="0" cy="0"/>
        </a:xfrm>
      </p:grpSpPr>
      <p:sp>
        <p:nvSpPr>
          <p:cNvPr id="147" name="Google Shape;147;p19"/>
          <p:cNvSpPr txBox="1"/>
          <p:nvPr>
            <p:ph type="title"/>
          </p:nvPr>
        </p:nvSpPr>
        <p:spPr>
          <a:xfrm>
            <a:off x="311700" y="445025"/>
            <a:ext cx="8520600" cy="572700"/>
          </a:xfrm>
          <a:prstGeom prst="rect">
            <a:avLst/>
          </a:prstGeom>
        </p:spPr>
        <p:txBody>
          <a:bodyPr anchorCtr="0" anchor="b" bIns="0" lIns="0" spcFirstLastPara="1" rIns="0" wrap="square" tIns="0">
            <a:spAutoFit/>
          </a:bodyPr>
          <a:lstStyle>
            <a:lvl1pPr lvl="0" rtl="0">
              <a:spcBef>
                <a:spcPts val="0"/>
              </a:spcBef>
              <a:spcAft>
                <a:spcPts val="0"/>
              </a:spcAft>
              <a:buSzPts val="2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8" name="Google Shape;148;p19"/>
          <p:cNvSpPr txBox="1"/>
          <p:nvPr>
            <p:ph idx="1" type="body"/>
          </p:nvPr>
        </p:nvSpPr>
        <p:spPr>
          <a:xfrm>
            <a:off x="311700" y="1152475"/>
            <a:ext cx="8520600" cy="3416400"/>
          </a:xfrm>
          <a:prstGeom prst="rect">
            <a:avLst/>
          </a:prstGeom>
        </p:spPr>
        <p:txBody>
          <a:bodyPr anchorCtr="0" anchor="t" bIns="0" lIns="0" spcFirstLastPara="1" rIns="0" wrap="square" tIns="0">
            <a:spAutoFit/>
          </a:bodyPr>
          <a:lstStyle>
            <a:lvl1pPr indent="-317500" lvl="0" marL="457200" rtl="0">
              <a:spcBef>
                <a:spcPts val="750"/>
              </a:spcBef>
              <a:spcAft>
                <a:spcPts val="0"/>
              </a:spcAft>
              <a:buSzPts val="1400"/>
              <a:buChar char="•"/>
              <a:defRPr/>
            </a:lvl1pPr>
            <a:lvl2pPr indent="-317500" lvl="1" marL="914400" rtl="0">
              <a:spcBef>
                <a:spcPts val="375"/>
              </a:spcBef>
              <a:spcAft>
                <a:spcPts val="0"/>
              </a:spcAft>
              <a:buSzPts val="1400"/>
              <a:buChar char="•"/>
              <a:defRPr/>
            </a:lvl2pPr>
            <a:lvl3pPr indent="-317500" lvl="2" marL="1371600" rtl="0">
              <a:spcBef>
                <a:spcPts val="375"/>
              </a:spcBef>
              <a:spcAft>
                <a:spcPts val="0"/>
              </a:spcAft>
              <a:buSzPts val="1400"/>
              <a:buChar char="•"/>
              <a:defRPr/>
            </a:lvl3pPr>
            <a:lvl4pPr indent="-317500" lvl="3" marL="1828800" rtl="0">
              <a:spcBef>
                <a:spcPts val="375"/>
              </a:spcBef>
              <a:spcAft>
                <a:spcPts val="0"/>
              </a:spcAft>
              <a:buSzPts val="1400"/>
              <a:buChar char="•"/>
              <a:defRPr/>
            </a:lvl4pPr>
            <a:lvl5pPr indent="-317500" lvl="4" marL="2286000" rtl="0">
              <a:spcBef>
                <a:spcPts val="375"/>
              </a:spcBef>
              <a:spcAft>
                <a:spcPts val="0"/>
              </a:spcAft>
              <a:buSzPts val="1400"/>
              <a:buChar char="•"/>
              <a:defRPr/>
            </a:lvl5pPr>
            <a:lvl6pPr indent="-228600" lvl="5" marL="2743200" rtl="0">
              <a:spcBef>
                <a:spcPts val="0"/>
              </a:spcBef>
              <a:spcAft>
                <a:spcPts val="0"/>
              </a:spcAft>
              <a:buSzPts val="100"/>
              <a:buNone/>
              <a:defRPr/>
            </a:lvl6pPr>
            <a:lvl7pPr indent="-571500" lvl="6" marL="3200400" rtl="0">
              <a:spcBef>
                <a:spcPts val="600"/>
              </a:spcBef>
              <a:spcAft>
                <a:spcPts val="0"/>
              </a:spcAft>
              <a:buSzPts val="5400"/>
              <a:buChar char="•"/>
              <a:defRPr/>
            </a:lvl7pPr>
            <a:lvl8pPr indent="-234950" lvl="7" marL="3657600" rtl="0">
              <a:spcBef>
                <a:spcPts val="600"/>
              </a:spcBef>
              <a:spcAft>
                <a:spcPts val="0"/>
              </a:spcAft>
              <a:buSzPts val="100"/>
              <a:buChar char="•"/>
              <a:defRPr/>
            </a:lvl8pPr>
            <a:lvl9pPr indent="-492125" lvl="8" marL="4114800" rtl="0">
              <a:spcBef>
                <a:spcPts val="600"/>
              </a:spcBef>
              <a:spcAft>
                <a:spcPts val="0"/>
              </a:spcAft>
              <a:buSzPts val="4150"/>
              <a:buChar char="•"/>
              <a:defRPr/>
            </a:lvl9pPr>
          </a:lstStyle>
          <a:p/>
        </p:txBody>
      </p:sp>
      <p:sp>
        <p:nvSpPr>
          <p:cNvPr id="149" name="Google Shape;149;p19"/>
          <p:cNvSpPr txBox="1"/>
          <p:nvPr>
            <p:ph idx="12" type="sldNum"/>
          </p:nvPr>
        </p:nvSpPr>
        <p:spPr>
          <a:xfrm>
            <a:off x="8472458" y="4663217"/>
            <a:ext cx="548700" cy="381600"/>
          </a:xfrm>
          <a:prstGeom prst="rect">
            <a:avLst/>
          </a:prstGeom>
        </p:spPr>
        <p:txBody>
          <a:bodyPr anchorCtr="0" anchor="t" bIns="256025" lIns="0" spcFirstLastPara="1" rIns="0" wrap="square" tIns="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342900" y="4724784"/>
            <a:ext cx="423229" cy="136525"/>
          </a:xfrm>
          <a:prstGeom prst="rect">
            <a:avLst/>
          </a:prstGeom>
          <a:noFill/>
          <a:ln>
            <a:noFill/>
          </a:ln>
        </p:spPr>
      </p:pic>
      <p:sp>
        <p:nvSpPr>
          <p:cNvPr id="7" name="Google Shape;7;p1"/>
          <p:cNvSpPr/>
          <p:nvPr/>
        </p:nvSpPr>
        <p:spPr>
          <a:xfrm>
            <a:off x="640080" y="821642"/>
            <a:ext cx="7772400" cy="36600"/>
          </a:xfrm>
          <a:prstGeom prst="rect">
            <a:avLst/>
          </a:prstGeom>
          <a:solidFill>
            <a:srgbClr val="2774AE"/>
          </a:solid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sp>
        <p:nvSpPr>
          <p:cNvPr id="8" name="Google Shape;8;p1"/>
          <p:cNvSpPr txBox="1"/>
          <p:nvPr>
            <p:ph type="title"/>
          </p:nvPr>
        </p:nvSpPr>
        <p:spPr>
          <a:xfrm>
            <a:off x="640079" y="367401"/>
            <a:ext cx="7772400" cy="390000"/>
          </a:xfrm>
          <a:prstGeom prst="rect">
            <a:avLst/>
          </a:prstGeom>
          <a:noFill/>
          <a:ln>
            <a:noFill/>
          </a:ln>
        </p:spPr>
        <p:txBody>
          <a:bodyPr anchorCtr="0" anchor="b" bIns="0" lIns="0" spcFirstLastPara="1" rIns="0" wrap="square" tIns="0">
            <a:spAutoFit/>
          </a:bodyPr>
          <a:lstStyle>
            <a:lvl1pPr lvl="0" marR="0" rtl="0" algn="l">
              <a:lnSpc>
                <a:spcPct val="90000"/>
              </a:lnSpc>
              <a:spcBef>
                <a:spcPts val="0"/>
              </a:spcBef>
              <a:spcAft>
                <a:spcPts val="0"/>
              </a:spcAft>
              <a:buClr>
                <a:srgbClr val="58595B"/>
              </a:buClr>
              <a:buSzPts val="2800"/>
              <a:buFont typeface="Helvetica Neue"/>
              <a:buNone/>
              <a:defRPr b="1" i="0" sz="2800" u="none" cap="none" strike="noStrike">
                <a:solidFill>
                  <a:srgbClr val="58595B"/>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2" type="sldNum"/>
          </p:nvPr>
        </p:nvSpPr>
        <p:spPr>
          <a:xfrm>
            <a:off x="8686800" y="4754880"/>
            <a:ext cx="457200" cy="381600"/>
          </a:xfrm>
          <a:prstGeom prst="rect">
            <a:avLst/>
          </a:prstGeom>
          <a:noFill/>
          <a:ln>
            <a:noFill/>
          </a:ln>
        </p:spPr>
        <p:txBody>
          <a:bodyPr anchorCtr="0" anchor="t" bIns="256025" lIns="0" spcFirstLastPara="1" rIns="0" wrap="square" tIns="0">
            <a:spAutoFit/>
          </a:bodyPr>
          <a:lstStyle>
            <a:lvl1pPr indent="0" lvl="0"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1pPr>
            <a:lvl2pPr indent="0" lvl="1"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2pPr>
            <a:lvl3pPr indent="0" lvl="2"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3pPr>
            <a:lvl4pPr indent="0" lvl="3"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4pPr>
            <a:lvl5pPr indent="0" lvl="4"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5pPr>
            <a:lvl6pPr indent="0" lvl="5"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6pPr>
            <a:lvl7pPr indent="0" lvl="6"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7pPr>
            <a:lvl8pPr indent="0" lvl="7"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8pPr>
            <a:lvl9pPr indent="0" lvl="8" marL="0" marR="0" rtl="0" algn="l">
              <a:lnSpc>
                <a:spcPct val="100000"/>
              </a:lnSpc>
              <a:spcBef>
                <a:spcPts val="0"/>
              </a:spcBef>
              <a:buNone/>
              <a:defRPr b="0" i="0" sz="800" u="none" cap="none" strike="noStrike">
                <a:solidFill>
                  <a:srgbClr val="898989"/>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
        <p:nvSpPr>
          <p:cNvPr id="10" name="Google Shape;10;p1"/>
          <p:cNvSpPr txBox="1"/>
          <p:nvPr/>
        </p:nvSpPr>
        <p:spPr>
          <a:xfrm>
            <a:off x="883480" y="4753105"/>
            <a:ext cx="2651700" cy="369300"/>
          </a:xfrm>
          <a:prstGeom prst="rect">
            <a:avLst/>
          </a:prstGeom>
          <a:noFill/>
          <a:ln>
            <a:noFill/>
          </a:ln>
        </p:spPr>
        <p:txBody>
          <a:bodyPr anchorCtr="0" anchor="t" bIns="256025" lIns="0" spcFirstLastPara="1" rIns="0" wrap="square" tIns="0">
            <a:spAutoFit/>
          </a:bodyPr>
          <a:lstStyle/>
          <a:p>
            <a:pPr indent="0" lvl="0" marL="0" marR="0" rtl="0" algn="l">
              <a:lnSpc>
                <a:spcPct val="90000"/>
              </a:lnSpc>
              <a:spcBef>
                <a:spcPts val="0"/>
              </a:spcBef>
              <a:spcAft>
                <a:spcPts val="0"/>
              </a:spcAft>
              <a:buClr>
                <a:srgbClr val="898989"/>
              </a:buClr>
              <a:buSzPts val="800"/>
              <a:buFont typeface="Helvetica Neue"/>
              <a:buNone/>
            </a:pPr>
            <a:r>
              <a:rPr lang="en" sz="800">
                <a:solidFill>
                  <a:srgbClr val="898989"/>
                </a:solidFill>
                <a:latin typeface="Helvetica Neue"/>
                <a:ea typeface="Helvetica Neue"/>
                <a:cs typeface="Helvetica Neue"/>
                <a:sym typeface="Helvetica Neue"/>
              </a:rPr>
              <a:t>Samueli School of Engineering</a:t>
            </a:r>
            <a:endParaRPr/>
          </a:p>
        </p:txBody>
      </p:sp>
      <p:sp>
        <p:nvSpPr>
          <p:cNvPr id="11" name="Google Shape;11;p1"/>
          <p:cNvSpPr txBox="1"/>
          <p:nvPr/>
        </p:nvSpPr>
        <p:spPr>
          <a:xfrm>
            <a:off x="3840480" y="4773168"/>
            <a:ext cx="3474600" cy="452400"/>
          </a:xfrm>
          <a:prstGeom prst="rect">
            <a:avLst/>
          </a:prstGeom>
          <a:noFill/>
          <a:ln>
            <a:noFill/>
          </a:ln>
        </p:spPr>
        <p:txBody>
          <a:bodyPr anchorCtr="0" anchor="t" bIns="256025" lIns="0" spcFirstLastPara="1" rIns="0" wrap="square" tIns="0">
            <a:spAutoFit/>
          </a:bodyPr>
          <a:lstStyle/>
          <a:p>
            <a:pPr indent="0" lvl="0" marL="0" marR="0" rtl="0" algn="l">
              <a:lnSpc>
                <a:spcPct val="90000"/>
              </a:lnSpc>
              <a:spcBef>
                <a:spcPts val="0"/>
              </a:spcBef>
              <a:spcAft>
                <a:spcPts val="0"/>
              </a:spcAft>
              <a:buClr>
                <a:srgbClr val="898989"/>
              </a:buClr>
              <a:buSzPts val="800"/>
              <a:buFont typeface="Helvetica Neue"/>
              <a:buNone/>
            </a:pPr>
            <a:r>
              <a:t/>
            </a:r>
            <a:endParaRPr/>
          </a:p>
        </p:txBody>
      </p:sp>
      <p:sp>
        <p:nvSpPr>
          <p:cNvPr id="12" name="Google Shape;12;p1"/>
          <p:cNvSpPr txBox="1"/>
          <p:nvPr>
            <p:ph idx="1" type="body"/>
          </p:nvPr>
        </p:nvSpPr>
        <p:spPr>
          <a:xfrm>
            <a:off x="1097280" y="1188720"/>
            <a:ext cx="7315200" cy="1175700"/>
          </a:xfrm>
          <a:prstGeom prst="rect">
            <a:avLst/>
          </a:prstGeom>
          <a:noFill/>
          <a:ln>
            <a:noFill/>
          </a:ln>
        </p:spPr>
        <p:txBody>
          <a:bodyPr anchorCtr="0" anchor="t" bIns="0" lIns="0" spcFirstLastPara="1" rIns="0" wrap="square" tIns="0">
            <a:spAutoFit/>
          </a:bodyPr>
          <a:lstStyle>
            <a:lvl1pPr indent="-317500" lvl="0" marL="457200" marR="0" rtl="0" algn="l">
              <a:lnSpc>
                <a:spcPct val="90000"/>
              </a:lnSpc>
              <a:spcBef>
                <a:spcPts val="750"/>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1pPr>
            <a:lvl2pPr indent="-317500" lvl="1" marL="914400"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2pPr>
            <a:lvl3pPr indent="-317500" lvl="2" marL="1371600"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3pPr>
            <a:lvl4pPr indent="-317500" lvl="3" marL="1828800"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4pPr>
            <a:lvl5pPr indent="-317500" lvl="4" marL="2286000" marR="0" rtl="0" algn="l">
              <a:lnSpc>
                <a:spcPct val="90000"/>
              </a:lnSpc>
              <a:spcBef>
                <a:spcPts val="375"/>
              </a:spcBef>
              <a:spcAft>
                <a:spcPts val="0"/>
              </a:spcAft>
              <a:buClr>
                <a:srgbClr val="58595B"/>
              </a:buClr>
              <a:buSzPts val="1400"/>
              <a:buFont typeface="Arial"/>
              <a:buChar char="•"/>
              <a:defRPr b="0" i="0" sz="1400" u="none" cap="none" strike="noStrike">
                <a:solidFill>
                  <a:srgbClr val="58595B"/>
                </a:solidFill>
                <a:latin typeface="Helvetica Neue"/>
                <a:ea typeface="Helvetica Neue"/>
                <a:cs typeface="Helvetica Neue"/>
                <a:sym typeface="Helvetica Neue"/>
              </a:defRPr>
            </a:lvl5pPr>
            <a:lvl6pPr indent="-228600" lvl="5" marL="2743200" marR="0" rtl="0" algn="l">
              <a:lnSpc>
                <a:spcPct val="90000"/>
              </a:lnSpc>
              <a:spcBef>
                <a:spcPts val="0"/>
              </a:spcBef>
              <a:spcAft>
                <a:spcPts val="0"/>
              </a:spcAft>
              <a:buClr>
                <a:schemeClr val="dk1"/>
              </a:buClr>
              <a:buSzPts val="100"/>
              <a:buFont typeface="Arial"/>
              <a:buNone/>
              <a:defRPr b="0" i="0" sz="100" u="none" cap="none" strike="noStrike">
                <a:solidFill>
                  <a:schemeClr val="dk1"/>
                </a:solidFill>
                <a:latin typeface="Helvetica Neue"/>
                <a:ea typeface="Helvetica Neue"/>
                <a:cs typeface="Helvetica Neue"/>
                <a:sym typeface="Helvetica Neue"/>
              </a:defRPr>
            </a:lvl6pPr>
            <a:lvl7pPr indent="-571500" lvl="6" marL="3200400" marR="0" rtl="0" algn="l">
              <a:lnSpc>
                <a:spcPct val="90000"/>
              </a:lnSpc>
              <a:spcBef>
                <a:spcPts val="600"/>
              </a:spcBef>
              <a:spcAft>
                <a:spcPts val="0"/>
              </a:spcAft>
              <a:buClr>
                <a:schemeClr val="dk1"/>
              </a:buClr>
              <a:buSzPts val="5400"/>
              <a:buFont typeface="Arial"/>
              <a:buChar char="•"/>
              <a:defRPr b="0" i="0" sz="5400" u="none" cap="none" strike="noStrike">
                <a:solidFill>
                  <a:schemeClr val="dk1"/>
                </a:solidFill>
                <a:latin typeface="Helvetica Neue"/>
                <a:ea typeface="Helvetica Neue"/>
                <a:cs typeface="Helvetica Neue"/>
                <a:sym typeface="Helvetica Neue"/>
              </a:defRPr>
            </a:lvl7pPr>
            <a:lvl8pPr indent="-234950" lvl="7" marL="3657600" marR="0" rtl="0" algn="l">
              <a:lnSpc>
                <a:spcPct val="90000"/>
              </a:lnSpc>
              <a:spcBef>
                <a:spcPts val="600"/>
              </a:spcBef>
              <a:spcAft>
                <a:spcPts val="0"/>
              </a:spcAft>
              <a:buClr>
                <a:schemeClr val="dk1"/>
              </a:buClr>
              <a:buSzPts val="100"/>
              <a:buFont typeface="Arial"/>
              <a:buChar char="•"/>
              <a:defRPr b="0" i="0" sz="100" u="none" cap="none" strike="noStrike">
                <a:solidFill>
                  <a:schemeClr val="dk1"/>
                </a:solidFill>
                <a:latin typeface="Helvetica Neue"/>
                <a:ea typeface="Helvetica Neue"/>
                <a:cs typeface="Helvetica Neue"/>
                <a:sym typeface="Helvetica Neue"/>
              </a:defRPr>
            </a:lvl8pPr>
            <a:lvl9pPr indent="-492125" lvl="8" marL="4114800" marR="0" rtl="0" algn="l">
              <a:lnSpc>
                <a:spcPct val="90000"/>
              </a:lnSpc>
              <a:spcBef>
                <a:spcPts val="600"/>
              </a:spcBef>
              <a:spcAft>
                <a:spcPts val="0"/>
              </a:spcAft>
              <a:buClr>
                <a:schemeClr val="dk1"/>
              </a:buClr>
              <a:buSzPts val="4150"/>
              <a:buFont typeface="Arial"/>
              <a:buChar char="•"/>
              <a:defRPr b="0" i="0" sz="4150" u="none" cap="none" strike="noStrike">
                <a:solidFill>
                  <a:schemeClr val="dk1"/>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505350" y="1993425"/>
            <a:ext cx="8133300" cy="5541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lang="en" sz="4000"/>
              <a:t>Noise Robust Digit Recognition </a:t>
            </a:r>
            <a:endParaRPr sz="4000"/>
          </a:p>
        </p:txBody>
      </p:sp>
      <p:sp>
        <p:nvSpPr>
          <p:cNvPr id="155" name="Google Shape;155;p20"/>
          <p:cNvSpPr txBox="1"/>
          <p:nvPr>
            <p:ph idx="1" type="body"/>
          </p:nvPr>
        </p:nvSpPr>
        <p:spPr>
          <a:xfrm>
            <a:off x="410200" y="4131200"/>
            <a:ext cx="8520600" cy="207900"/>
          </a:xfrm>
          <a:prstGeom prst="rect">
            <a:avLst/>
          </a:prstGeom>
        </p:spPr>
        <p:txBody>
          <a:bodyPr anchorCtr="0" anchor="t" bIns="0" lIns="0" spcFirstLastPara="1" rIns="0" wrap="square" tIns="0">
            <a:spAutoFit/>
          </a:bodyPr>
          <a:lstStyle/>
          <a:p>
            <a:pPr indent="0" lvl="0" marL="0" rtl="0" algn="ctr">
              <a:spcBef>
                <a:spcPts val="750"/>
              </a:spcBef>
              <a:spcAft>
                <a:spcPts val="0"/>
              </a:spcAft>
              <a:buNone/>
            </a:pPr>
            <a:r>
              <a:rPr lang="en" sz="1500"/>
              <a:t>Aki Hasegawa-Johnson, Advait Paranjpe, Farrah Galal</a:t>
            </a:r>
            <a:endParaRPr sz="1500"/>
          </a:p>
        </p:txBody>
      </p:sp>
      <p:sp>
        <p:nvSpPr>
          <p:cNvPr id="156" name="Google Shape;156;p20"/>
          <p:cNvSpPr txBox="1"/>
          <p:nvPr/>
        </p:nvSpPr>
        <p:spPr>
          <a:xfrm>
            <a:off x="2520400" y="2571375"/>
            <a:ext cx="4300200" cy="5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58595B"/>
                </a:solidFill>
                <a:latin typeface="Helvetica Neue"/>
                <a:ea typeface="Helvetica Neue"/>
                <a:cs typeface="Helvetica Neue"/>
                <a:sym typeface="Helvetica Neue"/>
              </a:rPr>
              <a:t>ECE M214A: Digital Speech Processing</a:t>
            </a:r>
            <a:endParaRPr b="1" sz="1700">
              <a:solidFill>
                <a:srgbClr val="58595B"/>
              </a:solidFill>
              <a:latin typeface="Helvetica Neue"/>
              <a:ea typeface="Helvetica Neue"/>
              <a:cs typeface="Helvetica Neue"/>
              <a:sym typeface="Helvetica Neue"/>
            </a:endParaRPr>
          </a:p>
          <a:p>
            <a:pPr indent="0" lvl="0" marL="0" rtl="0" algn="l">
              <a:spcBef>
                <a:spcPts val="0"/>
              </a:spcBef>
              <a:spcAft>
                <a:spcPts val="0"/>
              </a:spcAft>
              <a:buNone/>
            </a:pPr>
            <a:r>
              <a:t/>
            </a:r>
            <a:endParaRPr b="1" sz="1700">
              <a:solidFill>
                <a:srgbClr val="58595B"/>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ph type="title"/>
          </p:nvPr>
        </p:nvSpPr>
        <p:spPr>
          <a:xfrm>
            <a:off x="311700" y="360705"/>
            <a:ext cx="85206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System Architecture Overview</a:t>
            </a:r>
            <a:endParaRPr/>
          </a:p>
        </p:txBody>
      </p:sp>
      <p:sp>
        <p:nvSpPr>
          <p:cNvPr id="162" name="Google Shape;162;p21"/>
          <p:cNvSpPr txBox="1"/>
          <p:nvPr/>
        </p:nvSpPr>
        <p:spPr>
          <a:xfrm>
            <a:off x="362350" y="966300"/>
            <a:ext cx="8213400" cy="797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Helvetica Neue"/>
                <a:ea typeface="Helvetica Neue"/>
                <a:cs typeface="Helvetica Neue"/>
                <a:sym typeface="Helvetica Neue"/>
              </a:rPr>
              <a:t>We improve noisy spoken digit recognition by fusing PCEN and MFCC feature streams with temporal derivatives, while keeping the baseline BiLSTM fixed.</a:t>
            </a:r>
            <a:endParaRPr>
              <a:latin typeface="Helvetica Neue"/>
              <a:ea typeface="Helvetica Neue"/>
              <a:cs typeface="Helvetica Neue"/>
              <a:sym typeface="Helvetica Neue"/>
            </a:endParaRPr>
          </a:p>
          <a:p>
            <a:pPr indent="0" lvl="0" marL="0" rtl="0" algn="l">
              <a:lnSpc>
                <a:spcPct val="150000"/>
              </a:lnSpc>
              <a:spcBef>
                <a:spcPts val="0"/>
              </a:spcBef>
              <a:spcAft>
                <a:spcPts val="0"/>
              </a:spcAft>
              <a:buNone/>
            </a:pPr>
            <a:r>
              <a:t/>
            </a:r>
            <a:endParaRPr>
              <a:latin typeface="Helvetica Neue"/>
              <a:ea typeface="Helvetica Neue"/>
              <a:cs typeface="Helvetica Neue"/>
              <a:sym typeface="Helvetica Neue"/>
            </a:endParaRPr>
          </a:p>
        </p:txBody>
      </p:sp>
      <p:pic>
        <p:nvPicPr>
          <p:cNvPr id="163" name="Google Shape;163;p21" title="Screenshot 2026-03-10 at 11.36.11.png"/>
          <p:cNvPicPr preferRelativeResize="0"/>
          <p:nvPr/>
        </p:nvPicPr>
        <p:blipFill>
          <a:blip r:embed="rId3">
            <a:alphaModFix/>
          </a:blip>
          <a:stretch>
            <a:fillRect/>
          </a:stretch>
        </p:blipFill>
        <p:spPr>
          <a:xfrm>
            <a:off x="152400" y="1916100"/>
            <a:ext cx="8839204" cy="212779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2"/>
          <p:cNvSpPr txBox="1"/>
          <p:nvPr>
            <p:ph type="title"/>
          </p:nvPr>
        </p:nvSpPr>
        <p:spPr>
          <a:xfrm>
            <a:off x="311700" y="360705"/>
            <a:ext cx="85206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Trimming</a:t>
            </a:r>
            <a:endParaRPr/>
          </a:p>
        </p:txBody>
      </p:sp>
      <p:sp>
        <p:nvSpPr>
          <p:cNvPr id="169" name="Google Shape;169;p22"/>
          <p:cNvSpPr txBox="1"/>
          <p:nvPr/>
        </p:nvSpPr>
        <p:spPr>
          <a:xfrm>
            <a:off x="362350" y="1768200"/>
            <a:ext cx="2746800" cy="2422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Font typeface="Helvetica Neue"/>
              <a:buChar char="●"/>
            </a:pPr>
            <a:r>
              <a:rPr lang="en">
                <a:latin typeface="Helvetica Neue"/>
                <a:ea typeface="Helvetica Neue"/>
                <a:cs typeface="Helvetica Neue"/>
                <a:sym typeface="Helvetica Neue"/>
              </a:rPr>
              <a:t>Reduces silence and padding variability across recordings</a:t>
            </a:r>
            <a:endParaRPr>
              <a:latin typeface="Helvetica Neue"/>
              <a:ea typeface="Helvetica Neue"/>
              <a:cs typeface="Helvetica Neue"/>
              <a:sym typeface="Helvetica Neue"/>
            </a:endParaRPr>
          </a:p>
          <a:p>
            <a:pPr indent="-317500" lvl="0" marL="457200" rtl="0" algn="l">
              <a:lnSpc>
                <a:spcPct val="115000"/>
              </a:lnSpc>
              <a:spcBef>
                <a:spcPts val="0"/>
              </a:spcBef>
              <a:spcAft>
                <a:spcPts val="0"/>
              </a:spcAft>
              <a:buSzPts val="1400"/>
              <a:buFont typeface="Helvetica Neue"/>
              <a:buChar char="●"/>
            </a:pPr>
            <a:r>
              <a:rPr lang="en">
                <a:latin typeface="Helvetica Neue"/>
                <a:ea typeface="Helvetica Neue"/>
                <a:cs typeface="Helvetica Neue"/>
                <a:sym typeface="Helvetica Neue"/>
              </a:rPr>
              <a:t>Helps downstream features focus on speech rather than non-informative frames</a:t>
            </a:r>
            <a:endParaRPr>
              <a:latin typeface="Helvetica Neue"/>
              <a:ea typeface="Helvetica Neue"/>
              <a:cs typeface="Helvetica Neue"/>
              <a:sym typeface="Helvetica Neue"/>
            </a:endParaRPr>
          </a:p>
          <a:p>
            <a:pPr indent="-317500" lvl="0" marL="457200" rtl="0" algn="l">
              <a:lnSpc>
                <a:spcPct val="115000"/>
              </a:lnSpc>
              <a:spcBef>
                <a:spcPts val="0"/>
              </a:spcBef>
              <a:spcAft>
                <a:spcPts val="0"/>
              </a:spcAft>
              <a:buSzPts val="1400"/>
              <a:buChar char="●"/>
            </a:pPr>
            <a:r>
              <a:rPr lang="en">
                <a:latin typeface="Helvetica Neue"/>
                <a:ea typeface="Helvetica Neue"/>
                <a:cs typeface="Helvetica Neue"/>
                <a:sym typeface="Helvetica Neue"/>
              </a:rPr>
              <a:t>top_db=40 is a conservative threshold that avoids cutting weak speech</a:t>
            </a:r>
            <a:endParaRPr>
              <a:latin typeface="Helvetica Neue"/>
              <a:ea typeface="Helvetica Neue"/>
              <a:cs typeface="Helvetica Neue"/>
              <a:sym typeface="Helvetica Neue"/>
            </a:endParaRPr>
          </a:p>
        </p:txBody>
      </p:sp>
      <p:grpSp>
        <p:nvGrpSpPr>
          <p:cNvPr id="170" name="Google Shape;170;p22"/>
          <p:cNvGrpSpPr/>
          <p:nvPr/>
        </p:nvGrpSpPr>
        <p:grpSpPr>
          <a:xfrm>
            <a:off x="3195573" y="1768200"/>
            <a:ext cx="5813651" cy="2814675"/>
            <a:chOff x="311698" y="1776825"/>
            <a:chExt cx="5813651" cy="2814675"/>
          </a:xfrm>
        </p:grpSpPr>
        <p:pic>
          <p:nvPicPr>
            <p:cNvPr id="171" name="Google Shape;171;p22" title="Screenshot 2026-03-09 at 19.32.18.png"/>
            <p:cNvPicPr preferRelativeResize="0"/>
            <p:nvPr/>
          </p:nvPicPr>
          <p:blipFill rotWithShape="1">
            <a:blip r:embed="rId3">
              <a:alphaModFix/>
            </a:blip>
            <a:srcRect b="17717" l="0" r="0" t="26623"/>
            <a:stretch/>
          </p:blipFill>
          <p:spPr>
            <a:xfrm>
              <a:off x="311698" y="1776825"/>
              <a:ext cx="5813651" cy="710775"/>
            </a:xfrm>
            <a:prstGeom prst="rect">
              <a:avLst/>
            </a:prstGeom>
            <a:noFill/>
            <a:ln>
              <a:noFill/>
            </a:ln>
          </p:spPr>
        </p:pic>
        <p:sp>
          <p:nvSpPr>
            <p:cNvPr id="172" name="Google Shape;172;p22"/>
            <p:cNvSpPr txBox="1"/>
            <p:nvPr/>
          </p:nvSpPr>
          <p:spPr>
            <a:xfrm>
              <a:off x="443625" y="2364650"/>
              <a:ext cx="1166700" cy="3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58595B"/>
                  </a:solidFill>
                  <a:latin typeface="Helvetica Neue"/>
                  <a:ea typeface="Helvetica Neue"/>
                  <a:cs typeface="Helvetica Neue"/>
                  <a:sym typeface="Helvetica Neue"/>
                </a:rPr>
                <a:t>silence</a:t>
              </a:r>
              <a:endParaRPr>
                <a:solidFill>
                  <a:srgbClr val="58595B"/>
                </a:solidFill>
                <a:latin typeface="Helvetica Neue"/>
                <a:ea typeface="Helvetica Neue"/>
                <a:cs typeface="Helvetica Neue"/>
                <a:sym typeface="Helvetica Neue"/>
              </a:endParaRPr>
            </a:p>
          </p:txBody>
        </p:sp>
        <p:sp>
          <p:nvSpPr>
            <p:cNvPr id="173" name="Google Shape;173;p22"/>
            <p:cNvSpPr txBox="1"/>
            <p:nvPr/>
          </p:nvSpPr>
          <p:spPr>
            <a:xfrm>
              <a:off x="2678375" y="2364650"/>
              <a:ext cx="1166700" cy="3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58595B"/>
                  </a:solidFill>
                  <a:latin typeface="Helvetica Neue"/>
                  <a:ea typeface="Helvetica Neue"/>
                  <a:cs typeface="Helvetica Neue"/>
                  <a:sym typeface="Helvetica Neue"/>
                </a:rPr>
                <a:t>speech</a:t>
              </a:r>
              <a:endParaRPr>
                <a:solidFill>
                  <a:srgbClr val="58595B"/>
                </a:solidFill>
                <a:latin typeface="Helvetica Neue"/>
                <a:ea typeface="Helvetica Neue"/>
                <a:cs typeface="Helvetica Neue"/>
                <a:sym typeface="Helvetica Neue"/>
              </a:endParaRPr>
            </a:p>
          </p:txBody>
        </p:sp>
        <p:sp>
          <p:nvSpPr>
            <p:cNvPr id="174" name="Google Shape;174;p22"/>
            <p:cNvSpPr txBox="1"/>
            <p:nvPr/>
          </p:nvSpPr>
          <p:spPr>
            <a:xfrm>
              <a:off x="4913125" y="2364650"/>
              <a:ext cx="1166700" cy="3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58595B"/>
                  </a:solidFill>
                  <a:latin typeface="Helvetica Neue"/>
                  <a:ea typeface="Helvetica Neue"/>
                  <a:cs typeface="Helvetica Neue"/>
                  <a:sym typeface="Helvetica Neue"/>
                </a:rPr>
                <a:t>silence</a:t>
              </a:r>
              <a:endParaRPr>
                <a:solidFill>
                  <a:srgbClr val="58595B"/>
                </a:solidFill>
                <a:latin typeface="Helvetica Neue"/>
                <a:ea typeface="Helvetica Neue"/>
                <a:cs typeface="Helvetica Neue"/>
                <a:sym typeface="Helvetica Neue"/>
              </a:endParaRPr>
            </a:p>
          </p:txBody>
        </p:sp>
        <p:pic>
          <p:nvPicPr>
            <p:cNvPr id="175" name="Google Shape;175;p22" title="Screenshot 2026-03-09 at 19.32.18.png"/>
            <p:cNvPicPr preferRelativeResize="0"/>
            <p:nvPr/>
          </p:nvPicPr>
          <p:blipFill rotWithShape="1">
            <a:blip r:embed="rId3">
              <a:alphaModFix/>
            </a:blip>
            <a:srcRect b="17717" l="22338" r="20850" t="26623"/>
            <a:stretch/>
          </p:blipFill>
          <p:spPr>
            <a:xfrm>
              <a:off x="1610325" y="3664650"/>
              <a:ext cx="3302801" cy="710775"/>
            </a:xfrm>
            <a:prstGeom prst="rect">
              <a:avLst/>
            </a:prstGeom>
            <a:noFill/>
            <a:ln>
              <a:noFill/>
            </a:ln>
          </p:spPr>
        </p:pic>
        <p:sp>
          <p:nvSpPr>
            <p:cNvPr id="176" name="Google Shape;176;p22"/>
            <p:cNvSpPr txBox="1"/>
            <p:nvPr/>
          </p:nvSpPr>
          <p:spPr>
            <a:xfrm>
              <a:off x="2727300" y="4286700"/>
              <a:ext cx="1166700" cy="3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58595B"/>
                  </a:solidFill>
                  <a:latin typeface="Helvetica Neue"/>
                  <a:ea typeface="Helvetica Neue"/>
                  <a:cs typeface="Helvetica Neue"/>
                  <a:sym typeface="Helvetica Neue"/>
                </a:rPr>
                <a:t>speech</a:t>
              </a:r>
              <a:endParaRPr>
                <a:solidFill>
                  <a:srgbClr val="58595B"/>
                </a:solidFill>
                <a:latin typeface="Helvetica Neue"/>
                <a:ea typeface="Helvetica Neue"/>
                <a:cs typeface="Helvetica Neue"/>
                <a:sym typeface="Helvetica Neue"/>
              </a:endParaRPr>
            </a:p>
          </p:txBody>
        </p:sp>
        <p:sp>
          <p:nvSpPr>
            <p:cNvPr id="177" name="Google Shape;177;p22"/>
            <p:cNvSpPr/>
            <p:nvPr/>
          </p:nvSpPr>
          <p:spPr>
            <a:xfrm rot="5400000">
              <a:off x="2899175" y="2975750"/>
              <a:ext cx="725100" cy="387900"/>
            </a:xfrm>
            <a:prstGeom prst="rightArrow">
              <a:avLst>
                <a:gd fmla="val 50000" name="adj1"/>
                <a:gd fmla="val 50000" name="adj2"/>
              </a:avLst>
            </a:prstGeom>
            <a:solidFill>
              <a:schemeClr val="accent6"/>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grpSp>
      <p:sp>
        <p:nvSpPr>
          <p:cNvPr id="178" name="Google Shape;178;p22"/>
          <p:cNvSpPr txBox="1"/>
          <p:nvPr/>
        </p:nvSpPr>
        <p:spPr>
          <a:xfrm>
            <a:off x="362350" y="966300"/>
            <a:ext cx="8213400" cy="710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latin typeface="Helvetica Neue"/>
                <a:ea typeface="Helvetica Neue"/>
                <a:cs typeface="Helvetica Neue"/>
                <a:sym typeface="Helvetica Neue"/>
              </a:rPr>
              <a:t>Main Idea:</a:t>
            </a:r>
            <a:r>
              <a:rPr lang="en">
                <a:latin typeface="Helvetica Neue"/>
                <a:ea typeface="Helvetica Neue"/>
                <a:cs typeface="Helvetica Neue"/>
                <a:sym typeface="Helvetica Neue"/>
              </a:rPr>
              <a:t> Remove low-energy audio at the beginning and end so the model sees mostly the spoken digit, not padding.</a:t>
            </a:r>
            <a:endParaRPr>
              <a:latin typeface="Helvetica Neue"/>
              <a:ea typeface="Helvetica Neue"/>
              <a:cs typeface="Helvetica Neue"/>
              <a:sym typeface="Helvetica Neue"/>
            </a:endParaRPr>
          </a:p>
          <a:p>
            <a:pPr indent="0" lvl="0" marL="0" rtl="0" algn="l">
              <a:lnSpc>
                <a:spcPct val="150000"/>
              </a:lnSpc>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3"/>
          <p:cNvSpPr txBox="1"/>
          <p:nvPr>
            <p:ph type="title"/>
          </p:nvPr>
        </p:nvSpPr>
        <p:spPr>
          <a:xfrm>
            <a:off x="311700" y="336650"/>
            <a:ext cx="85206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PCEN </a:t>
            </a:r>
            <a:r>
              <a:rPr lang="en" sz="1600"/>
              <a:t>(Per-Channel-Energy-Normalization)</a:t>
            </a:r>
            <a:endParaRPr sz="1600"/>
          </a:p>
        </p:txBody>
      </p:sp>
      <p:pic>
        <p:nvPicPr>
          <p:cNvPr id="184" name="Google Shape;184;p23" title="Screenshot 2026-03-09 at 19.49.13.png"/>
          <p:cNvPicPr preferRelativeResize="0"/>
          <p:nvPr/>
        </p:nvPicPr>
        <p:blipFill rotWithShape="1">
          <a:blip r:embed="rId3">
            <a:alphaModFix/>
          </a:blip>
          <a:srcRect b="0" l="0" r="0" t="20268"/>
          <a:stretch/>
        </p:blipFill>
        <p:spPr>
          <a:xfrm>
            <a:off x="152213" y="883625"/>
            <a:ext cx="8839572" cy="1899524"/>
          </a:xfrm>
          <a:prstGeom prst="rect">
            <a:avLst/>
          </a:prstGeom>
          <a:noFill/>
          <a:ln>
            <a:noFill/>
          </a:ln>
        </p:spPr>
      </p:pic>
      <p:pic>
        <p:nvPicPr>
          <p:cNvPr id="185" name="Google Shape;185;p23" title="Screenshot 2026-03-10 at 11.37.59.png"/>
          <p:cNvPicPr preferRelativeResize="0"/>
          <p:nvPr/>
        </p:nvPicPr>
        <p:blipFill>
          <a:blip r:embed="rId4">
            <a:alphaModFix/>
          </a:blip>
          <a:stretch>
            <a:fillRect/>
          </a:stretch>
        </p:blipFill>
        <p:spPr>
          <a:xfrm>
            <a:off x="1082300" y="2783150"/>
            <a:ext cx="6979400" cy="17649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4"/>
          <p:cNvSpPr txBox="1"/>
          <p:nvPr>
            <p:ph type="title"/>
          </p:nvPr>
        </p:nvSpPr>
        <p:spPr>
          <a:xfrm>
            <a:off x="311700" y="336650"/>
            <a:ext cx="85206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MFCC</a:t>
            </a:r>
            <a:endParaRPr/>
          </a:p>
        </p:txBody>
      </p:sp>
      <p:sp>
        <p:nvSpPr>
          <p:cNvPr id="191" name="Google Shape;191;p24"/>
          <p:cNvSpPr txBox="1"/>
          <p:nvPr/>
        </p:nvSpPr>
        <p:spPr>
          <a:xfrm>
            <a:off x="311700" y="1036800"/>
            <a:ext cx="8374500" cy="128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latin typeface="Helvetica Neue"/>
                <a:ea typeface="Helvetica Neue"/>
                <a:cs typeface="Helvetica Neue"/>
                <a:sym typeface="Helvetica Neue"/>
              </a:rPr>
              <a:t>Key Idea: </a:t>
            </a:r>
            <a:endParaRPr b="1" sz="1100">
              <a:latin typeface="Helvetica Neue"/>
              <a:ea typeface="Helvetica Neue"/>
              <a:cs typeface="Helvetica Neue"/>
              <a:sym typeface="Helvetica Neue"/>
            </a:endParaRPr>
          </a:p>
          <a:p>
            <a:pPr indent="-298450" lvl="0" marL="457200" rtl="0" algn="l">
              <a:lnSpc>
                <a:spcPct val="115000"/>
              </a:lnSpc>
              <a:spcBef>
                <a:spcPts val="1200"/>
              </a:spcBef>
              <a:spcAft>
                <a:spcPts val="0"/>
              </a:spcAft>
              <a:buSzPts val="1100"/>
              <a:buFont typeface="Helvetica Neue"/>
              <a:buChar char="●"/>
            </a:pPr>
            <a:r>
              <a:rPr lang="en" sz="1100">
                <a:latin typeface="Helvetica Neue"/>
                <a:ea typeface="Helvetica Neue"/>
                <a:cs typeface="Helvetica Neue"/>
                <a:sym typeface="Helvetica Neue"/>
              </a:rPr>
              <a:t>We need features that capture </a:t>
            </a:r>
            <a:r>
              <a:rPr b="1" lang="en" sz="1100">
                <a:latin typeface="Helvetica Neue"/>
                <a:ea typeface="Helvetica Neue"/>
                <a:cs typeface="Helvetica Neue"/>
                <a:sym typeface="Helvetica Neue"/>
              </a:rPr>
              <a:t>important speech structure</a:t>
            </a:r>
            <a:r>
              <a:rPr lang="en" sz="1100">
                <a:latin typeface="Helvetica Neue"/>
                <a:ea typeface="Helvetica Neue"/>
                <a:cs typeface="Helvetica Neue"/>
                <a:sym typeface="Helvetica Neue"/>
              </a:rPr>
              <a:t> while reducing dimensionality. </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Font typeface="Helvetica Neue"/>
              <a:buChar char="●"/>
            </a:pPr>
            <a:r>
              <a:rPr lang="en" sz="1100">
                <a:latin typeface="Helvetica Neue"/>
                <a:ea typeface="Helvetica Neue"/>
                <a:cs typeface="Helvetica Neue"/>
                <a:sym typeface="Helvetica Neue"/>
              </a:rPr>
              <a:t>Speech perception is largely determined by the </a:t>
            </a:r>
            <a:r>
              <a:rPr b="1" lang="en" sz="1100">
                <a:latin typeface="Helvetica Neue"/>
                <a:ea typeface="Helvetica Neue"/>
                <a:cs typeface="Helvetica Neue"/>
                <a:sym typeface="Helvetica Neue"/>
              </a:rPr>
              <a:t>spectral envelope of the vocal tract</a:t>
            </a:r>
            <a:r>
              <a:rPr lang="en" sz="1100">
                <a:latin typeface="Helvetica Neue"/>
                <a:ea typeface="Helvetica Neue"/>
                <a:cs typeface="Helvetica Neue"/>
                <a:sym typeface="Helvetica Neue"/>
              </a:rPr>
              <a:t> rather than the raw waveform.</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Font typeface="Helvetica Neue"/>
              <a:buChar char="●"/>
            </a:pPr>
            <a:r>
              <a:rPr lang="en" sz="1100">
                <a:latin typeface="Helvetica Neue"/>
                <a:ea typeface="Helvetica Neue"/>
                <a:cs typeface="Helvetica Neue"/>
                <a:sym typeface="Helvetica Neue"/>
              </a:rPr>
              <a:t>MFCCs (</a:t>
            </a:r>
            <a:r>
              <a:rPr lang="en" sz="1100">
                <a:latin typeface="Helvetica Neue"/>
                <a:ea typeface="Helvetica Neue"/>
                <a:cs typeface="Helvetica Neue"/>
                <a:sym typeface="Helvetica Neue"/>
              </a:rPr>
              <a:t>Mel-Frequency Cepstral Coefficients</a:t>
            </a:r>
            <a:r>
              <a:rPr lang="en" sz="1100">
                <a:latin typeface="Helvetica Neue"/>
                <a:ea typeface="Helvetica Neue"/>
                <a:cs typeface="Helvetica Neue"/>
                <a:sym typeface="Helvetica Neue"/>
              </a:rPr>
              <a:t>) summarize the </a:t>
            </a:r>
            <a:r>
              <a:rPr b="1" lang="en" sz="1100">
                <a:latin typeface="Helvetica Neue"/>
                <a:ea typeface="Helvetica Neue"/>
                <a:cs typeface="Helvetica Neue"/>
                <a:sym typeface="Helvetica Neue"/>
              </a:rPr>
              <a:t>shape of the speech spectrum</a:t>
            </a:r>
            <a:r>
              <a:rPr lang="en" sz="1100">
                <a:latin typeface="Helvetica Neue"/>
                <a:ea typeface="Helvetica Neue"/>
                <a:cs typeface="Helvetica Neue"/>
                <a:sym typeface="Helvetica Neue"/>
              </a:rPr>
              <a:t> in a compact form that reflects how humans perceive sound.</a:t>
            </a:r>
            <a:endParaRPr sz="1100">
              <a:latin typeface="Helvetica Neue"/>
              <a:ea typeface="Helvetica Neue"/>
              <a:cs typeface="Helvetica Neue"/>
              <a:sym typeface="Helvetica Neue"/>
            </a:endParaRPr>
          </a:p>
          <a:p>
            <a:pPr indent="0" lvl="0" marL="914400" rtl="0" algn="l">
              <a:lnSpc>
                <a:spcPct val="115000"/>
              </a:lnSpc>
              <a:spcBef>
                <a:spcPts val="1200"/>
              </a:spcBef>
              <a:spcAft>
                <a:spcPts val="0"/>
              </a:spcAft>
              <a:buNone/>
            </a:pPr>
            <a:r>
              <a:t/>
            </a:r>
            <a:endParaRPr b="1" sz="1100">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b="1" lang="en" sz="1100">
                <a:latin typeface="Helvetica Neue"/>
                <a:ea typeface="Helvetica Neue"/>
                <a:cs typeface="Helvetica Neue"/>
                <a:sym typeface="Helvetica Neue"/>
              </a:rPr>
              <a:t>MFCC Pipeline:</a:t>
            </a:r>
            <a:endParaRPr b="1" sz="1100">
              <a:latin typeface="Helvetica Neue"/>
              <a:ea typeface="Helvetica Neue"/>
              <a:cs typeface="Helvetica Neue"/>
              <a:sym typeface="Helvetica Neue"/>
            </a:endParaRPr>
          </a:p>
          <a:p>
            <a:pPr indent="0" lvl="0" marL="0" rtl="0" algn="l">
              <a:spcBef>
                <a:spcPts val="1200"/>
              </a:spcBef>
              <a:spcAft>
                <a:spcPts val="0"/>
              </a:spcAft>
              <a:buNone/>
            </a:pPr>
            <a:r>
              <a:t/>
            </a:r>
            <a:endParaRPr>
              <a:solidFill>
                <a:srgbClr val="58595B"/>
              </a:solidFill>
              <a:latin typeface="Helvetica Neue"/>
              <a:ea typeface="Helvetica Neue"/>
              <a:cs typeface="Helvetica Neue"/>
              <a:sym typeface="Helvetica Neue"/>
            </a:endParaRPr>
          </a:p>
        </p:txBody>
      </p:sp>
      <p:pic>
        <p:nvPicPr>
          <p:cNvPr id="192" name="Google Shape;192;p24"/>
          <p:cNvPicPr preferRelativeResize="0"/>
          <p:nvPr/>
        </p:nvPicPr>
        <p:blipFill>
          <a:blip r:embed="rId3">
            <a:alphaModFix/>
          </a:blip>
          <a:stretch>
            <a:fillRect/>
          </a:stretch>
        </p:blipFill>
        <p:spPr>
          <a:xfrm>
            <a:off x="152400" y="2924225"/>
            <a:ext cx="8839199" cy="113194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title"/>
          </p:nvPr>
        </p:nvSpPr>
        <p:spPr>
          <a:xfrm>
            <a:off x="311700" y="336650"/>
            <a:ext cx="85206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CMVN</a:t>
            </a:r>
            <a:endParaRPr/>
          </a:p>
        </p:txBody>
      </p:sp>
      <p:sp>
        <p:nvSpPr>
          <p:cNvPr id="198" name="Google Shape;198;p25"/>
          <p:cNvSpPr txBox="1"/>
          <p:nvPr/>
        </p:nvSpPr>
        <p:spPr>
          <a:xfrm>
            <a:off x="362350" y="966300"/>
            <a:ext cx="8213400" cy="372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latin typeface="Helvetica Neue"/>
                <a:ea typeface="Helvetica Neue"/>
                <a:cs typeface="Helvetica Neue"/>
                <a:sym typeface="Helvetica Neue"/>
              </a:rPr>
              <a:t>Motivation: </a:t>
            </a:r>
            <a:r>
              <a:rPr lang="en" sz="1100">
                <a:latin typeface="Helvetica Neue"/>
                <a:ea typeface="Helvetica Neue"/>
                <a:cs typeface="Helvetica Neue"/>
                <a:sym typeface="Helvetica Neue"/>
              </a:rPr>
              <a:t>Speech recordings can vary due to:</a:t>
            </a:r>
            <a:endParaRPr sz="1100">
              <a:latin typeface="Helvetica Neue"/>
              <a:ea typeface="Helvetica Neue"/>
              <a:cs typeface="Helvetica Neue"/>
              <a:sym typeface="Helvetica Neue"/>
            </a:endParaRPr>
          </a:p>
          <a:p>
            <a:pPr indent="-298450" lvl="0" marL="457200" rtl="0" algn="l">
              <a:lnSpc>
                <a:spcPct val="115000"/>
              </a:lnSpc>
              <a:spcBef>
                <a:spcPts val="1200"/>
              </a:spcBef>
              <a:spcAft>
                <a:spcPts val="0"/>
              </a:spcAft>
              <a:buSzPts val="1100"/>
              <a:buFont typeface="Helvetica Neue"/>
              <a:buChar char="●"/>
            </a:pPr>
            <a:r>
              <a:rPr lang="en" sz="1100">
                <a:latin typeface="Helvetica Neue"/>
                <a:ea typeface="Helvetica Neue"/>
                <a:cs typeface="Helvetica Neue"/>
                <a:sym typeface="Helvetica Neue"/>
              </a:rPr>
              <a:t>microphone differences</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Font typeface="Helvetica Neue"/>
              <a:buChar char="●"/>
            </a:pPr>
            <a:r>
              <a:rPr lang="en" sz="1100">
                <a:latin typeface="Helvetica Neue"/>
                <a:ea typeface="Helvetica Neue"/>
                <a:cs typeface="Helvetica Neue"/>
                <a:sym typeface="Helvetica Neue"/>
              </a:rPr>
              <a:t>recording environments</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Font typeface="Helvetica Neue"/>
              <a:buChar char="●"/>
            </a:pPr>
            <a:r>
              <a:rPr lang="en" sz="1100">
                <a:latin typeface="Helvetica Neue"/>
                <a:ea typeface="Helvetica Neue"/>
                <a:cs typeface="Helvetica Neue"/>
                <a:sym typeface="Helvetica Neue"/>
              </a:rPr>
              <a:t>speaker loudness</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Font typeface="Helvetica Neue"/>
              <a:buChar char="●"/>
            </a:pPr>
            <a:r>
              <a:rPr lang="en" sz="1100">
                <a:latin typeface="Helvetica Neue"/>
                <a:ea typeface="Helvetica Neue"/>
                <a:cs typeface="Helvetica Neue"/>
                <a:sym typeface="Helvetica Neue"/>
              </a:rPr>
              <a:t>chan</a:t>
            </a:r>
            <a:r>
              <a:rPr lang="en" sz="1100">
                <a:latin typeface="Helvetica Neue"/>
                <a:ea typeface="Helvetica Neue"/>
                <a:cs typeface="Helvetica Neue"/>
                <a:sym typeface="Helvetica Neue"/>
              </a:rPr>
              <a:t>n</a:t>
            </a:r>
            <a:r>
              <a:rPr lang="en" sz="1100">
                <a:latin typeface="Helvetica Neue"/>
                <a:ea typeface="Helvetica Neue"/>
                <a:cs typeface="Helvetica Neue"/>
                <a:sym typeface="Helvetica Neue"/>
              </a:rPr>
              <a:t>el effects</a:t>
            </a:r>
            <a:endParaRPr sz="1100">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lang="en" sz="1100">
                <a:latin typeface="Helvetica Neue"/>
                <a:ea typeface="Helvetica Neue"/>
                <a:cs typeface="Helvetica Neue"/>
                <a:sym typeface="Helvetica Neue"/>
              </a:rPr>
              <a:t>These variations can shift the </a:t>
            </a:r>
            <a:r>
              <a:rPr b="1" lang="en" sz="1100">
                <a:latin typeface="Helvetica Neue"/>
                <a:ea typeface="Helvetica Neue"/>
                <a:cs typeface="Helvetica Neue"/>
                <a:sym typeface="Helvetica Neue"/>
              </a:rPr>
              <a:t>average value and scale of features</a:t>
            </a:r>
            <a:r>
              <a:rPr lang="en" sz="1100">
                <a:latin typeface="Helvetica Neue"/>
                <a:ea typeface="Helvetica Neue"/>
                <a:cs typeface="Helvetica Neue"/>
                <a:sym typeface="Helvetica Neue"/>
              </a:rPr>
              <a:t>, even when the spoken content is the same. This mismatch can make it harder for the model to learn consistent patterns. </a:t>
            </a:r>
            <a:r>
              <a:rPr b="1" lang="en" sz="1100">
                <a:latin typeface="Helvetica Neue"/>
                <a:ea typeface="Helvetica Neue"/>
                <a:cs typeface="Helvetica Neue"/>
                <a:sym typeface="Helvetica Neue"/>
              </a:rPr>
              <a:t>CMVN reduces this variability by normalizing the feature distribution. </a:t>
            </a:r>
            <a:r>
              <a:rPr lang="en" sz="1100">
                <a:latin typeface="Helvetica Neue"/>
                <a:ea typeface="Helvetica Neue"/>
                <a:cs typeface="Helvetica Neue"/>
                <a:sym typeface="Helvetica Neue"/>
              </a:rPr>
              <a:t>This removes </a:t>
            </a:r>
            <a:r>
              <a:rPr b="1" lang="en" sz="1100">
                <a:latin typeface="Helvetica Neue"/>
                <a:ea typeface="Helvetica Neue"/>
                <a:cs typeface="Helvetica Neue"/>
                <a:sym typeface="Helvetica Neue"/>
              </a:rPr>
              <a:t>recording-specific bias</a:t>
            </a:r>
            <a:r>
              <a:rPr lang="en" sz="1100">
                <a:latin typeface="Helvetica Neue"/>
                <a:ea typeface="Helvetica Neue"/>
                <a:cs typeface="Helvetica Neue"/>
                <a:sym typeface="Helvetica Neue"/>
              </a:rPr>
              <a:t> and ensures the model focuses on </a:t>
            </a:r>
            <a:r>
              <a:rPr b="1" lang="en" sz="1100">
                <a:latin typeface="Helvetica Neue"/>
                <a:ea typeface="Helvetica Neue"/>
                <a:cs typeface="Helvetica Neue"/>
                <a:sym typeface="Helvetica Neue"/>
              </a:rPr>
              <a:t>speech structure rather than recording conditions</a:t>
            </a:r>
            <a:r>
              <a:rPr lang="en" sz="1100">
                <a:latin typeface="Helvetica Neue"/>
                <a:ea typeface="Helvetica Neue"/>
                <a:cs typeface="Helvetica Neue"/>
                <a:sym typeface="Helvetica Neue"/>
              </a:rPr>
              <a:t>.</a:t>
            </a:r>
            <a:endParaRPr b="1" sz="1100">
              <a:latin typeface="Helvetica Neue"/>
              <a:ea typeface="Helvetica Neue"/>
              <a:cs typeface="Helvetica Neue"/>
              <a:sym typeface="Helvetica Neue"/>
            </a:endParaRPr>
          </a:p>
          <a:p>
            <a:pPr indent="0" lvl="0" marL="0" rtl="0" algn="l">
              <a:lnSpc>
                <a:spcPct val="115000"/>
              </a:lnSpc>
              <a:spcBef>
                <a:spcPts val="1400"/>
              </a:spcBef>
              <a:spcAft>
                <a:spcPts val="0"/>
              </a:spcAft>
              <a:buNone/>
            </a:pPr>
            <a:r>
              <a:rPr b="1" lang="en" sz="1300">
                <a:latin typeface="Helvetica Neue"/>
                <a:ea typeface="Helvetica Neue"/>
                <a:cs typeface="Helvetica Neue"/>
                <a:sym typeface="Helvetica Neue"/>
              </a:rPr>
              <a:t>Definition: </a:t>
            </a:r>
            <a:r>
              <a:rPr b="1" lang="en" sz="1100">
                <a:latin typeface="Helvetica Neue"/>
                <a:ea typeface="Helvetica Neue"/>
                <a:cs typeface="Helvetica Neue"/>
                <a:sym typeface="Helvetica Neue"/>
              </a:rPr>
              <a:t>Cepstral Mean and Variance Normalization (CMVN)</a:t>
            </a:r>
            <a:r>
              <a:rPr lang="en" sz="1100">
                <a:latin typeface="Helvetica Neue"/>
                <a:ea typeface="Helvetica Neue"/>
                <a:cs typeface="Helvetica Neue"/>
                <a:sym typeface="Helvetica Neue"/>
              </a:rPr>
              <a:t> is a feature normalization technique used in speech processing to standardize cepstral features (such as MFCCs).</a:t>
            </a:r>
            <a:endParaRPr sz="1100">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lang="en" sz="1100">
                <a:latin typeface="Helvetica Neue"/>
                <a:ea typeface="Helvetica Neue"/>
                <a:cs typeface="Helvetica Neue"/>
                <a:sym typeface="Helvetica Neue"/>
              </a:rPr>
              <a:t>For each feature coefficient across time:</a:t>
            </a:r>
            <a:endParaRPr sz="1100">
              <a:latin typeface="Helvetica Neue"/>
              <a:ea typeface="Helvetica Neue"/>
              <a:cs typeface="Helvetica Neue"/>
              <a:sym typeface="Helvetica Neue"/>
            </a:endParaRPr>
          </a:p>
          <a:p>
            <a:pPr indent="-298450" lvl="0" marL="457200" rtl="0" algn="l">
              <a:lnSpc>
                <a:spcPct val="115000"/>
              </a:lnSpc>
              <a:spcBef>
                <a:spcPts val="1200"/>
              </a:spcBef>
              <a:spcAft>
                <a:spcPts val="0"/>
              </a:spcAft>
              <a:buSzPts val="1100"/>
              <a:buChar char="●"/>
            </a:pPr>
            <a:r>
              <a:rPr lang="en" sz="1100">
                <a:latin typeface="Helvetica Neue"/>
                <a:ea typeface="Helvetica Neue"/>
                <a:cs typeface="Helvetica Neue"/>
                <a:sym typeface="Helvetica Neue"/>
              </a:rPr>
              <a:t>subtract the </a:t>
            </a:r>
            <a:r>
              <a:rPr b="1" lang="en" sz="1100">
                <a:latin typeface="Helvetica Neue"/>
                <a:ea typeface="Helvetica Neue"/>
                <a:cs typeface="Helvetica Neue"/>
                <a:sym typeface="Helvetica Neue"/>
              </a:rPr>
              <a:t>mean</a:t>
            </a:r>
            <a:endParaRPr b="1" sz="1100">
              <a:latin typeface="Helvetica Neue"/>
              <a:ea typeface="Helvetica Neue"/>
              <a:cs typeface="Helvetica Neue"/>
              <a:sym typeface="Helvetica Neue"/>
            </a:endParaRPr>
          </a:p>
          <a:p>
            <a:pPr indent="-298450" lvl="0" marL="457200" rtl="0" algn="l">
              <a:lnSpc>
                <a:spcPct val="115000"/>
              </a:lnSpc>
              <a:spcBef>
                <a:spcPts val="0"/>
              </a:spcBef>
              <a:spcAft>
                <a:spcPts val="0"/>
              </a:spcAft>
              <a:buSzPts val="1100"/>
              <a:buChar char="●"/>
            </a:pPr>
            <a:r>
              <a:rPr lang="en" sz="1100">
                <a:latin typeface="Helvetica Neue"/>
                <a:ea typeface="Helvetica Neue"/>
                <a:cs typeface="Helvetica Neue"/>
                <a:sym typeface="Helvetica Neue"/>
              </a:rPr>
              <a:t>divide by the </a:t>
            </a:r>
            <a:r>
              <a:rPr b="1" lang="en" sz="1100">
                <a:latin typeface="Helvetica Neue"/>
                <a:ea typeface="Helvetica Neue"/>
                <a:cs typeface="Helvetica Neue"/>
                <a:sym typeface="Helvetica Neue"/>
              </a:rPr>
              <a:t>standard deviation</a:t>
            </a:r>
            <a:br>
              <a:rPr b="1" lang="en" sz="1100">
                <a:latin typeface="Helvetica Neue"/>
                <a:ea typeface="Helvetica Neue"/>
                <a:cs typeface="Helvetica Neue"/>
                <a:sym typeface="Helvetica Neue"/>
              </a:rPr>
            </a:br>
            <a:endParaRPr b="1" sz="1100">
              <a:latin typeface="Helvetica Neue"/>
              <a:ea typeface="Helvetica Neue"/>
              <a:cs typeface="Helvetica Neue"/>
              <a:sym typeface="Helvetica Neue"/>
            </a:endParaRPr>
          </a:p>
          <a:p>
            <a:pPr indent="0" lvl="0" marL="457200" rtl="0" algn="l">
              <a:lnSpc>
                <a:spcPct val="115000"/>
              </a:lnSpc>
              <a:spcBef>
                <a:spcPts val="1200"/>
              </a:spcBef>
              <a:spcAft>
                <a:spcPts val="0"/>
              </a:spcAft>
              <a:buNone/>
            </a:pPr>
            <a:r>
              <a:t/>
            </a:r>
            <a:endParaRPr sz="1100">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sz="1100">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58595B"/>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311700" y="336650"/>
            <a:ext cx="85206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Delta + Delta-Delta</a:t>
            </a:r>
            <a:endParaRPr/>
          </a:p>
        </p:txBody>
      </p:sp>
      <p:sp>
        <p:nvSpPr>
          <p:cNvPr id="204" name="Google Shape;204;p26"/>
          <p:cNvSpPr txBox="1"/>
          <p:nvPr/>
        </p:nvSpPr>
        <p:spPr>
          <a:xfrm>
            <a:off x="608850" y="1026200"/>
            <a:ext cx="7926300" cy="34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58595B"/>
              </a:solidFill>
              <a:latin typeface="Helvetica Neue"/>
              <a:ea typeface="Helvetica Neue"/>
              <a:cs typeface="Helvetica Neue"/>
              <a:sym typeface="Helvetica Neue"/>
            </a:endParaRPr>
          </a:p>
        </p:txBody>
      </p:sp>
      <p:sp>
        <p:nvSpPr>
          <p:cNvPr id="205" name="Google Shape;205;p26"/>
          <p:cNvSpPr txBox="1"/>
          <p:nvPr/>
        </p:nvSpPr>
        <p:spPr>
          <a:xfrm>
            <a:off x="362350" y="966300"/>
            <a:ext cx="8213400" cy="42930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Let x</a:t>
            </a:r>
            <a:r>
              <a:rPr baseline="-25000" lang="en" sz="1300">
                <a:latin typeface="Helvetica Neue"/>
                <a:ea typeface="Helvetica Neue"/>
                <a:cs typeface="Helvetica Neue"/>
                <a:sym typeface="Helvetica Neue"/>
              </a:rPr>
              <a:t>t</a:t>
            </a:r>
            <a:r>
              <a:rPr lang="en" sz="1300">
                <a:latin typeface="Helvetica Neue"/>
                <a:ea typeface="Helvetica Neue"/>
                <a:cs typeface="Helvetica Neue"/>
                <a:sym typeface="Helvetica Neue"/>
              </a:rPr>
              <a:t>​ be the base features at time frame t. </a:t>
            </a:r>
            <a:r>
              <a:rPr b="1" lang="en" sz="1300">
                <a:latin typeface="Helvetica Neue"/>
                <a:ea typeface="Helvetica Neue"/>
                <a:cs typeface="Helvetica Neue"/>
                <a:sym typeface="Helvetica Neue"/>
              </a:rPr>
              <a:t>Delta</a:t>
            </a:r>
            <a:r>
              <a:rPr lang="en" sz="1300">
                <a:latin typeface="Helvetica Neue"/>
                <a:ea typeface="Helvetica Neue"/>
                <a:cs typeface="Helvetica Neue"/>
                <a:sym typeface="Helvetica Neue"/>
              </a:rPr>
              <a:t> features capture the first-order temporal change of each feature (first derivative)</a:t>
            </a:r>
            <a:endParaRPr sz="1300">
              <a:latin typeface="Helvetica Neue"/>
              <a:ea typeface="Helvetica Neue"/>
              <a:cs typeface="Helvetica Neue"/>
              <a:sym typeface="Helvetica Neue"/>
            </a:endParaRPr>
          </a:p>
          <a:p>
            <a:pPr indent="0" lvl="0" marL="457200" rtl="0" algn="ctr">
              <a:lnSpc>
                <a:spcPct val="150000"/>
              </a:lnSpc>
              <a:spcBef>
                <a:spcPts val="0"/>
              </a:spcBef>
              <a:spcAft>
                <a:spcPts val="0"/>
              </a:spcAft>
              <a:buNone/>
            </a:pPr>
            <a:r>
              <a:rPr lang="en" sz="1300">
                <a:latin typeface="Helvetica Neue"/>
                <a:ea typeface="Helvetica Neue"/>
                <a:cs typeface="Helvetica Neue"/>
                <a:sym typeface="Helvetica Neue"/>
              </a:rPr>
              <a:t>Δx</a:t>
            </a:r>
            <a:r>
              <a:rPr baseline="-25000" lang="en" sz="1300">
                <a:latin typeface="Helvetica Neue"/>
                <a:ea typeface="Helvetica Neue"/>
                <a:cs typeface="Helvetica Neue"/>
                <a:sym typeface="Helvetica Neue"/>
              </a:rPr>
              <a:t>t​</a:t>
            </a:r>
            <a:r>
              <a:rPr lang="en" sz="1300">
                <a:latin typeface="Helvetica Neue"/>
                <a:ea typeface="Helvetica Neue"/>
                <a:cs typeface="Helvetica Neue"/>
                <a:sym typeface="Helvetica Neue"/>
              </a:rPr>
              <a:t> ≈ (x</a:t>
            </a:r>
            <a:r>
              <a:rPr baseline="-25000" lang="en" sz="1300">
                <a:latin typeface="Helvetica Neue"/>
                <a:ea typeface="Helvetica Neue"/>
                <a:cs typeface="Helvetica Neue"/>
                <a:sym typeface="Helvetica Neue"/>
              </a:rPr>
              <a:t>t+1​</a:t>
            </a:r>
            <a:r>
              <a:rPr lang="en" sz="1300">
                <a:latin typeface="Helvetica Neue"/>
                <a:ea typeface="Helvetica Neue"/>
                <a:cs typeface="Helvetica Neue"/>
                <a:sym typeface="Helvetica Neue"/>
              </a:rPr>
              <a:t>− x</a:t>
            </a:r>
            <a:r>
              <a:rPr baseline="-25000" lang="en" sz="1300">
                <a:latin typeface="Helvetica Neue"/>
                <a:ea typeface="Helvetica Neue"/>
                <a:cs typeface="Helvetica Neue"/>
                <a:sym typeface="Helvetica Neue"/>
              </a:rPr>
              <a:t>t−1​​</a:t>
            </a:r>
            <a:r>
              <a:rPr lang="en" sz="1300">
                <a:latin typeface="Helvetica Neue"/>
                <a:ea typeface="Helvetica Neue"/>
                <a:cs typeface="Helvetica Neue"/>
                <a:sym typeface="Helvetica Neue"/>
              </a:rPr>
              <a:t>) / 2</a:t>
            </a:r>
            <a:endParaRPr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b="1" lang="en" sz="1300">
                <a:latin typeface="Helvetica Neue"/>
                <a:ea typeface="Helvetica Neue"/>
                <a:cs typeface="Helvetica Neue"/>
                <a:sym typeface="Helvetica Neue"/>
              </a:rPr>
              <a:t>Delta-Delta</a:t>
            </a:r>
            <a:r>
              <a:rPr lang="en" sz="1300">
                <a:latin typeface="Helvetica Neue"/>
                <a:ea typeface="Helvetica Neue"/>
                <a:cs typeface="Helvetica Neue"/>
                <a:sym typeface="Helvetica Neue"/>
              </a:rPr>
              <a:t> features capture the second-order temporal change (second derivative)</a:t>
            </a:r>
            <a:endParaRPr sz="1300">
              <a:latin typeface="Helvetica Neue"/>
              <a:ea typeface="Helvetica Neue"/>
              <a:cs typeface="Helvetica Neue"/>
              <a:sym typeface="Helvetica Neue"/>
            </a:endParaRPr>
          </a:p>
          <a:p>
            <a:pPr indent="0" lvl="0" marL="457200" rtl="0" algn="ctr">
              <a:lnSpc>
                <a:spcPct val="150000"/>
              </a:lnSpc>
              <a:spcBef>
                <a:spcPts val="0"/>
              </a:spcBef>
              <a:spcAft>
                <a:spcPts val="0"/>
              </a:spcAft>
              <a:buNone/>
            </a:pPr>
            <a:r>
              <a:rPr lang="en" sz="1300">
                <a:latin typeface="Helvetica Neue"/>
                <a:ea typeface="Helvetica Neue"/>
                <a:cs typeface="Helvetica Neue"/>
                <a:sym typeface="Helvetica Neue"/>
              </a:rPr>
              <a:t>Δ</a:t>
            </a:r>
            <a:r>
              <a:rPr baseline="30000" lang="en" sz="1300">
                <a:latin typeface="Helvetica Neue"/>
                <a:ea typeface="Helvetica Neue"/>
                <a:cs typeface="Helvetica Neue"/>
                <a:sym typeface="Helvetica Neue"/>
              </a:rPr>
              <a:t>2</a:t>
            </a:r>
            <a:r>
              <a:rPr lang="en" sz="1300">
                <a:latin typeface="Helvetica Neue"/>
                <a:ea typeface="Helvetica Neue"/>
                <a:cs typeface="Helvetica Neue"/>
                <a:sym typeface="Helvetica Neue"/>
              </a:rPr>
              <a:t>x</a:t>
            </a:r>
            <a:r>
              <a:rPr baseline="-25000" lang="en" sz="1300">
                <a:latin typeface="Helvetica Neue"/>
                <a:ea typeface="Helvetica Neue"/>
                <a:cs typeface="Helvetica Neue"/>
                <a:sym typeface="Helvetica Neue"/>
              </a:rPr>
              <a:t>t​</a:t>
            </a:r>
            <a:r>
              <a:rPr lang="en" sz="1300">
                <a:latin typeface="Helvetica Neue"/>
                <a:ea typeface="Helvetica Neue"/>
                <a:cs typeface="Helvetica Neue"/>
                <a:sym typeface="Helvetica Neue"/>
              </a:rPr>
              <a:t> </a:t>
            </a:r>
            <a:r>
              <a:rPr lang="en" sz="1300">
                <a:latin typeface="Helvetica Neue"/>
                <a:ea typeface="Helvetica Neue"/>
                <a:cs typeface="Helvetica Neue"/>
                <a:sym typeface="Helvetica Neue"/>
              </a:rPr>
              <a:t>≈ (Δx</a:t>
            </a:r>
            <a:r>
              <a:rPr baseline="-25000" lang="en" sz="1300">
                <a:latin typeface="Helvetica Neue"/>
                <a:ea typeface="Helvetica Neue"/>
                <a:cs typeface="Helvetica Neue"/>
                <a:sym typeface="Helvetica Neue"/>
              </a:rPr>
              <a:t>t+1​</a:t>
            </a:r>
            <a:r>
              <a:rPr lang="en" sz="1300">
                <a:latin typeface="Helvetica Neue"/>
                <a:ea typeface="Helvetica Neue"/>
                <a:cs typeface="Helvetica Neue"/>
                <a:sym typeface="Helvetica Neue"/>
              </a:rPr>
              <a:t>− Δx</a:t>
            </a:r>
            <a:r>
              <a:rPr baseline="-25000" lang="en" sz="1300">
                <a:latin typeface="Helvetica Neue"/>
                <a:ea typeface="Helvetica Neue"/>
                <a:cs typeface="Helvetica Neue"/>
                <a:sym typeface="Helvetica Neue"/>
              </a:rPr>
              <a:t>t−1​​</a:t>
            </a:r>
            <a:r>
              <a:rPr lang="en" sz="1300">
                <a:latin typeface="Helvetica Neue"/>
                <a:ea typeface="Helvetica Neue"/>
                <a:cs typeface="Helvetica Neue"/>
                <a:sym typeface="Helvetica Neue"/>
              </a:rPr>
              <a:t>) / 2</a:t>
            </a:r>
            <a:endParaRPr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These derivatives help represent the dynamic structure of speech</a:t>
            </a:r>
            <a:endParaRPr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Spoken digits are short sequences, so modeling how features evolve over time is important</a:t>
            </a:r>
            <a:endParaRPr sz="1300">
              <a:latin typeface="Helvetica Neue"/>
              <a:ea typeface="Helvetica Neue"/>
              <a:cs typeface="Helvetica Neue"/>
              <a:sym typeface="Helvetica Neue"/>
            </a:endParaRPr>
          </a:p>
          <a:p>
            <a:pPr indent="0" lvl="0" marL="0" rtl="0" algn="l">
              <a:lnSpc>
                <a:spcPct val="150000"/>
              </a:lnSpc>
              <a:spcBef>
                <a:spcPts val="0"/>
              </a:spcBef>
              <a:spcAft>
                <a:spcPts val="0"/>
              </a:spcAft>
              <a:buNone/>
            </a:pPr>
            <a:r>
              <a:t/>
            </a:r>
            <a:endParaRPr sz="1300">
              <a:latin typeface="Helvetica Neue"/>
              <a:ea typeface="Helvetica Neue"/>
              <a:cs typeface="Helvetica Neue"/>
              <a:sym typeface="Helvetica Neue"/>
            </a:endParaRPr>
          </a:p>
          <a:p>
            <a:pPr indent="0" lvl="0" marL="0" rtl="0" algn="l">
              <a:lnSpc>
                <a:spcPct val="150000"/>
              </a:lnSpc>
              <a:spcBef>
                <a:spcPts val="0"/>
              </a:spcBef>
              <a:spcAft>
                <a:spcPts val="0"/>
              </a:spcAft>
              <a:buNone/>
            </a:pPr>
            <a:r>
              <a:rPr lang="en" sz="1300">
                <a:latin typeface="Helvetica Neue"/>
                <a:ea typeface="Helvetica Neue"/>
                <a:cs typeface="Helvetica Neue"/>
                <a:sym typeface="Helvetica Neue"/>
              </a:rPr>
              <a:t>Advantages:</a:t>
            </a:r>
            <a:endParaRPr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Improves separation between digits with similar static acoustic patterns</a:t>
            </a:r>
            <a:endParaRPr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Helps capture transitions between consonants and vowels</a:t>
            </a:r>
            <a:endParaRPr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Gives the model both frame-level content and temporal motion</a:t>
            </a:r>
            <a:endParaRPr sz="1300">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7"/>
          <p:cNvSpPr txBox="1"/>
          <p:nvPr/>
        </p:nvSpPr>
        <p:spPr>
          <a:xfrm>
            <a:off x="362350" y="966300"/>
            <a:ext cx="8781600" cy="49671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For both the PCEN stream and the MFCC stream, we computed </a:t>
            </a:r>
            <a:r>
              <a:rPr b="1" lang="en" sz="1300">
                <a:latin typeface="Helvetica Neue"/>
                <a:ea typeface="Helvetica Neue"/>
                <a:cs typeface="Helvetica Neue"/>
                <a:sym typeface="Helvetica Neue"/>
              </a:rPr>
              <a:t>static, delta, and delta-delta </a:t>
            </a:r>
            <a:r>
              <a:rPr lang="en" sz="1300">
                <a:latin typeface="Helvetica Neue"/>
                <a:ea typeface="Helvetica Neue"/>
                <a:cs typeface="Helvetica Neue"/>
                <a:sym typeface="Helvetica Neue"/>
              </a:rPr>
              <a:t>features</a:t>
            </a:r>
            <a:endParaRPr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We t</a:t>
            </a:r>
            <a:r>
              <a:rPr lang="en" sz="1300">
                <a:latin typeface="Helvetica Neue"/>
                <a:ea typeface="Helvetica Neue"/>
                <a:cs typeface="Helvetica Neue"/>
                <a:sym typeface="Helvetica Neue"/>
              </a:rPr>
              <a:t>h</a:t>
            </a:r>
            <a:r>
              <a:rPr lang="en" sz="1300">
                <a:latin typeface="Helvetica Neue"/>
                <a:ea typeface="Helvetica Neue"/>
                <a:cs typeface="Helvetica Neue"/>
                <a:sym typeface="Helvetica Neue"/>
              </a:rPr>
              <a:t>en performed </a:t>
            </a:r>
            <a:r>
              <a:rPr b="1" lang="en" sz="1300">
                <a:latin typeface="Helvetica Neue"/>
                <a:ea typeface="Helvetica Neue"/>
                <a:cs typeface="Helvetica Neue"/>
                <a:sym typeface="Helvetica Neue"/>
              </a:rPr>
              <a:t>feature</a:t>
            </a:r>
            <a:r>
              <a:rPr lang="en" sz="1300">
                <a:latin typeface="Helvetica Neue"/>
                <a:ea typeface="Helvetica Neue"/>
                <a:cs typeface="Helvetica Neue"/>
                <a:sym typeface="Helvetica Neue"/>
              </a:rPr>
              <a:t> </a:t>
            </a:r>
            <a:r>
              <a:rPr b="1" lang="en" sz="1300">
                <a:latin typeface="Helvetica Neue"/>
                <a:ea typeface="Helvetica Neue"/>
                <a:cs typeface="Helvetica Neue"/>
                <a:sym typeface="Helvetica Neue"/>
              </a:rPr>
              <a:t>fusion</a:t>
            </a:r>
            <a:r>
              <a:rPr lang="en" sz="1300">
                <a:latin typeface="Helvetica Neue"/>
                <a:ea typeface="Helvetica Neue"/>
                <a:cs typeface="Helvetica Neue"/>
                <a:sym typeface="Helvetica Neue"/>
              </a:rPr>
              <a:t> by stacking both streams together into one feature vector</a:t>
            </a:r>
            <a:endParaRPr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Dimensions:</a:t>
            </a:r>
            <a:endParaRPr sz="1300">
              <a:latin typeface="Helvetica Neue"/>
              <a:ea typeface="Helvetica Neue"/>
              <a:cs typeface="Helvetica Neue"/>
              <a:sym typeface="Helvetica Neue"/>
            </a:endParaRPr>
          </a:p>
          <a:p>
            <a:pPr indent="-311150" lvl="1" marL="9144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PCEN stream: 64 + 64 + 64 = 192 dims</a:t>
            </a:r>
            <a:endParaRPr sz="1300">
              <a:latin typeface="Helvetica Neue"/>
              <a:ea typeface="Helvetica Neue"/>
              <a:cs typeface="Helvetica Neue"/>
              <a:sym typeface="Helvetica Neue"/>
            </a:endParaRPr>
          </a:p>
          <a:p>
            <a:pPr indent="-311150" lvl="1" marL="9144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MFCC stream: 13 + 13 + 13 = 39 dims</a:t>
            </a:r>
            <a:endParaRPr sz="1300">
              <a:latin typeface="Helvetica Neue"/>
              <a:ea typeface="Helvetica Neue"/>
              <a:cs typeface="Helvetica Neue"/>
              <a:sym typeface="Helvetica Neue"/>
            </a:endParaRPr>
          </a:p>
          <a:p>
            <a:pPr indent="-311150" lvl="1" marL="914400" rtl="0" algn="l">
              <a:lnSpc>
                <a:spcPct val="150000"/>
              </a:lnSpc>
              <a:spcBef>
                <a:spcPts val="0"/>
              </a:spcBef>
              <a:spcAft>
                <a:spcPts val="0"/>
              </a:spcAft>
              <a:buSzPts val="1300"/>
              <a:buFont typeface="Helvetica Neue"/>
              <a:buChar char="○"/>
            </a:pPr>
            <a:r>
              <a:rPr b="1" lang="en" sz="1300">
                <a:latin typeface="Helvetica Neue"/>
                <a:ea typeface="Helvetica Neue"/>
                <a:cs typeface="Helvetica Neue"/>
                <a:sym typeface="Helvetica Neue"/>
              </a:rPr>
              <a:t>Final fused input</a:t>
            </a:r>
            <a:r>
              <a:rPr lang="en" sz="1300">
                <a:latin typeface="Helvetica Neue"/>
                <a:ea typeface="Helvetica Neue"/>
                <a:cs typeface="Helvetica Neue"/>
                <a:sym typeface="Helvetica Neue"/>
              </a:rPr>
              <a:t>: 192 + 39 = </a:t>
            </a:r>
            <a:r>
              <a:rPr b="1" lang="en" sz="1300">
                <a:latin typeface="Helvetica Neue"/>
                <a:ea typeface="Helvetica Neue"/>
                <a:cs typeface="Helvetica Neue"/>
                <a:sym typeface="Helvetica Neue"/>
              </a:rPr>
              <a:t>231 dims per frame</a:t>
            </a:r>
            <a:endParaRPr b="1"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The LSTM receives the sequence of fused frame-level features and models temporal dependencies across the utterance</a:t>
            </a:r>
            <a:endParaRPr sz="1300">
              <a:latin typeface="Helvetica Neue"/>
              <a:ea typeface="Helvetica Neue"/>
              <a:cs typeface="Helvetica Neue"/>
              <a:sym typeface="Helvetica Neue"/>
            </a:endParaRPr>
          </a:p>
          <a:p>
            <a:pPr indent="-311150" lvl="0" marL="457200" rtl="0" algn="l">
              <a:lnSpc>
                <a:spcPct val="150000"/>
              </a:lnSpc>
              <a:spcBef>
                <a:spcPts val="0"/>
              </a:spcBef>
              <a:spcAft>
                <a:spcPts val="0"/>
              </a:spcAft>
              <a:buSzPts val="1300"/>
              <a:buFont typeface="Helvetica Neue"/>
              <a:buChar char="●"/>
            </a:pPr>
            <a:r>
              <a:rPr lang="en" sz="1300">
                <a:latin typeface="Helvetica Neue"/>
                <a:ea typeface="Helvetica Neue"/>
                <a:cs typeface="Helvetica Neue"/>
                <a:sym typeface="Helvetica Neue"/>
              </a:rPr>
              <a:t>Final output is the predicted digit from 0–9</a:t>
            </a:r>
            <a:endParaRPr sz="1300">
              <a:latin typeface="Helvetica Neue"/>
              <a:ea typeface="Helvetica Neue"/>
              <a:cs typeface="Helvetica Neue"/>
              <a:sym typeface="Helvetica Neue"/>
            </a:endParaRPr>
          </a:p>
        </p:txBody>
      </p:sp>
      <p:sp>
        <p:nvSpPr>
          <p:cNvPr id="211" name="Google Shape;211;p27"/>
          <p:cNvSpPr txBox="1"/>
          <p:nvPr>
            <p:ph type="title"/>
          </p:nvPr>
        </p:nvSpPr>
        <p:spPr>
          <a:xfrm>
            <a:off x="311700" y="336650"/>
            <a:ext cx="8520600" cy="387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Feature Fusion and LSTM Classification</a:t>
            </a:r>
            <a:endParaRPr/>
          </a:p>
        </p:txBody>
      </p:sp>
      <p:sp>
        <p:nvSpPr>
          <p:cNvPr id="212" name="Google Shape;212;p27"/>
          <p:cNvSpPr/>
          <p:nvPr/>
        </p:nvSpPr>
        <p:spPr>
          <a:xfrm>
            <a:off x="7138575" y="4296412"/>
            <a:ext cx="1051500" cy="212100"/>
          </a:xfrm>
          <a:prstGeom prst="rect">
            <a:avLst/>
          </a:prstGeom>
          <a:solidFill>
            <a:srgbClr val="CFE2F3"/>
          </a:solidFill>
          <a:ln cap="flat" cmpd="sng" w="4350">
            <a:solidFill>
              <a:schemeClr val="dk2"/>
            </a:solidFill>
            <a:prstDash val="solid"/>
            <a:round/>
            <a:headEnd len="sm" w="sm" type="none"/>
            <a:tailEnd len="sm" w="sm" type="none"/>
          </a:ln>
        </p:spPr>
        <p:txBody>
          <a:bodyPr anchorCtr="0" anchor="ctr" bIns="41675" lIns="41675" spcFirstLastPara="1" rIns="41675" wrap="square" tIns="41675">
            <a:noAutofit/>
          </a:bodyPr>
          <a:lstStyle/>
          <a:p>
            <a:pPr indent="0" lvl="0" marL="0" rtl="0" algn="ctr">
              <a:spcBef>
                <a:spcPts val="0"/>
              </a:spcBef>
              <a:spcAft>
                <a:spcPts val="0"/>
              </a:spcAft>
              <a:buNone/>
            </a:pPr>
            <a:r>
              <a:rPr b="1" lang="en" sz="638">
                <a:latin typeface="Helvetica Neue"/>
                <a:ea typeface="Helvetica Neue"/>
                <a:cs typeface="Helvetica Neue"/>
                <a:sym typeface="Helvetica Neue"/>
              </a:rPr>
              <a:t>static</a:t>
            </a:r>
            <a:r>
              <a:rPr lang="en" sz="638">
                <a:latin typeface="Helvetica Neue"/>
                <a:ea typeface="Helvetica Neue"/>
                <a:cs typeface="Helvetica Neue"/>
                <a:sym typeface="Helvetica Neue"/>
              </a:rPr>
              <a:t> MFCC</a:t>
            </a:r>
            <a:endParaRPr sz="638">
              <a:latin typeface="Helvetica Neue"/>
              <a:ea typeface="Helvetica Neue"/>
              <a:cs typeface="Helvetica Neue"/>
              <a:sym typeface="Helvetica Neue"/>
            </a:endParaRPr>
          </a:p>
          <a:p>
            <a:pPr indent="0" lvl="0" marL="0" rtl="0" algn="ctr">
              <a:spcBef>
                <a:spcPts val="0"/>
              </a:spcBef>
              <a:spcAft>
                <a:spcPts val="0"/>
              </a:spcAft>
              <a:buNone/>
            </a:pPr>
            <a:r>
              <a:rPr lang="en" sz="638">
                <a:latin typeface="Helvetica Neue"/>
                <a:ea typeface="Helvetica Neue"/>
                <a:cs typeface="Helvetica Neue"/>
                <a:sym typeface="Helvetica Neue"/>
              </a:rPr>
              <a:t>(13, T)</a:t>
            </a:r>
            <a:endParaRPr sz="638">
              <a:latin typeface="Helvetica Neue"/>
              <a:ea typeface="Helvetica Neue"/>
              <a:cs typeface="Helvetica Neue"/>
              <a:sym typeface="Helvetica Neue"/>
            </a:endParaRPr>
          </a:p>
        </p:txBody>
      </p:sp>
      <p:sp>
        <p:nvSpPr>
          <p:cNvPr id="213" name="Google Shape;213;p27"/>
          <p:cNvSpPr/>
          <p:nvPr/>
        </p:nvSpPr>
        <p:spPr>
          <a:xfrm>
            <a:off x="7138575" y="4508640"/>
            <a:ext cx="1051500" cy="212100"/>
          </a:xfrm>
          <a:prstGeom prst="rect">
            <a:avLst/>
          </a:prstGeom>
          <a:solidFill>
            <a:srgbClr val="9FC5E8"/>
          </a:solidFill>
          <a:ln cap="flat" cmpd="sng" w="4350">
            <a:solidFill>
              <a:schemeClr val="dk2"/>
            </a:solidFill>
            <a:prstDash val="solid"/>
            <a:round/>
            <a:headEnd len="sm" w="sm" type="none"/>
            <a:tailEnd len="sm" w="sm" type="none"/>
          </a:ln>
        </p:spPr>
        <p:txBody>
          <a:bodyPr anchorCtr="0" anchor="ctr" bIns="41675" lIns="41675" spcFirstLastPara="1" rIns="41675" wrap="square" tIns="41675">
            <a:noAutofit/>
          </a:bodyPr>
          <a:lstStyle/>
          <a:p>
            <a:pPr indent="0" lvl="0" marL="0" rtl="0" algn="ctr">
              <a:spcBef>
                <a:spcPts val="0"/>
              </a:spcBef>
              <a:spcAft>
                <a:spcPts val="0"/>
              </a:spcAft>
              <a:buNone/>
            </a:pPr>
            <a:r>
              <a:rPr b="1" lang="en" sz="638">
                <a:latin typeface="Helvetica Neue"/>
                <a:ea typeface="Helvetica Neue"/>
                <a:cs typeface="Helvetica Neue"/>
                <a:sym typeface="Helvetica Neue"/>
              </a:rPr>
              <a:t>delta</a:t>
            </a:r>
            <a:r>
              <a:rPr lang="en" sz="638">
                <a:latin typeface="Helvetica Neue"/>
                <a:ea typeface="Helvetica Neue"/>
                <a:cs typeface="Helvetica Neue"/>
                <a:sym typeface="Helvetica Neue"/>
              </a:rPr>
              <a:t> MFCC</a:t>
            </a:r>
            <a:endParaRPr sz="638">
              <a:latin typeface="Helvetica Neue"/>
              <a:ea typeface="Helvetica Neue"/>
              <a:cs typeface="Helvetica Neue"/>
              <a:sym typeface="Helvetica Neue"/>
            </a:endParaRPr>
          </a:p>
          <a:p>
            <a:pPr indent="0" lvl="0" marL="0" rtl="0" algn="ctr">
              <a:spcBef>
                <a:spcPts val="0"/>
              </a:spcBef>
              <a:spcAft>
                <a:spcPts val="0"/>
              </a:spcAft>
              <a:buNone/>
            </a:pPr>
            <a:r>
              <a:rPr lang="en" sz="638">
                <a:latin typeface="Helvetica Neue"/>
                <a:ea typeface="Helvetica Neue"/>
                <a:cs typeface="Helvetica Neue"/>
                <a:sym typeface="Helvetica Neue"/>
              </a:rPr>
              <a:t>(13, T)</a:t>
            </a:r>
            <a:endParaRPr sz="638">
              <a:latin typeface="Helvetica Neue"/>
              <a:ea typeface="Helvetica Neue"/>
              <a:cs typeface="Helvetica Neue"/>
              <a:sym typeface="Helvetica Neue"/>
            </a:endParaRPr>
          </a:p>
        </p:txBody>
      </p:sp>
      <p:sp>
        <p:nvSpPr>
          <p:cNvPr id="214" name="Google Shape;214;p27"/>
          <p:cNvSpPr/>
          <p:nvPr/>
        </p:nvSpPr>
        <p:spPr>
          <a:xfrm>
            <a:off x="7138575" y="4720868"/>
            <a:ext cx="1051500" cy="212100"/>
          </a:xfrm>
          <a:prstGeom prst="rect">
            <a:avLst/>
          </a:prstGeom>
          <a:solidFill>
            <a:srgbClr val="6FA8DC"/>
          </a:solidFill>
          <a:ln cap="flat" cmpd="sng" w="4350">
            <a:solidFill>
              <a:schemeClr val="dk2"/>
            </a:solidFill>
            <a:prstDash val="solid"/>
            <a:round/>
            <a:headEnd len="sm" w="sm" type="none"/>
            <a:tailEnd len="sm" w="sm" type="none"/>
          </a:ln>
        </p:spPr>
        <p:txBody>
          <a:bodyPr anchorCtr="0" anchor="ctr" bIns="41675" lIns="41675" spcFirstLastPara="1" rIns="41675" wrap="square" tIns="41675">
            <a:noAutofit/>
          </a:bodyPr>
          <a:lstStyle/>
          <a:p>
            <a:pPr indent="0" lvl="0" marL="0" rtl="0" algn="ctr">
              <a:spcBef>
                <a:spcPts val="0"/>
              </a:spcBef>
              <a:spcAft>
                <a:spcPts val="0"/>
              </a:spcAft>
              <a:buNone/>
            </a:pPr>
            <a:r>
              <a:rPr b="1" lang="en" sz="638">
                <a:latin typeface="Helvetica Neue"/>
                <a:ea typeface="Helvetica Neue"/>
                <a:cs typeface="Helvetica Neue"/>
                <a:sym typeface="Helvetica Neue"/>
              </a:rPr>
              <a:t>delta-delta</a:t>
            </a:r>
            <a:r>
              <a:rPr b="1" lang="en" sz="638">
                <a:latin typeface="Helvetica Neue"/>
                <a:ea typeface="Helvetica Neue"/>
                <a:cs typeface="Helvetica Neue"/>
                <a:sym typeface="Helvetica Neue"/>
              </a:rPr>
              <a:t> </a:t>
            </a:r>
            <a:r>
              <a:rPr lang="en" sz="638">
                <a:latin typeface="Helvetica Neue"/>
                <a:ea typeface="Helvetica Neue"/>
                <a:cs typeface="Helvetica Neue"/>
                <a:sym typeface="Helvetica Neue"/>
              </a:rPr>
              <a:t>MFCC</a:t>
            </a:r>
            <a:endParaRPr sz="638">
              <a:latin typeface="Helvetica Neue"/>
              <a:ea typeface="Helvetica Neue"/>
              <a:cs typeface="Helvetica Neue"/>
              <a:sym typeface="Helvetica Neue"/>
            </a:endParaRPr>
          </a:p>
          <a:p>
            <a:pPr indent="0" lvl="0" marL="0" rtl="0" algn="ctr">
              <a:spcBef>
                <a:spcPts val="0"/>
              </a:spcBef>
              <a:spcAft>
                <a:spcPts val="0"/>
              </a:spcAft>
              <a:buNone/>
            </a:pPr>
            <a:r>
              <a:rPr lang="en" sz="638">
                <a:latin typeface="Helvetica Neue"/>
                <a:ea typeface="Helvetica Neue"/>
                <a:cs typeface="Helvetica Neue"/>
                <a:sym typeface="Helvetica Neue"/>
              </a:rPr>
              <a:t>(13, T)</a:t>
            </a:r>
            <a:endParaRPr sz="638">
              <a:latin typeface="Helvetica Neue"/>
              <a:ea typeface="Helvetica Neue"/>
              <a:cs typeface="Helvetica Neue"/>
              <a:sym typeface="Helvetica Neue"/>
            </a:endParaRPr>
          </a:p>
        </p:txBody>
      </p:sp>
      <p:pic>
        <p:nvPicPr>
          <p:cNvPr descr="430+ Curly Brackets Stock Photos, Pictures &amp; Royalty-Free Images - iStock" id="215" name="Google Shape;215;p27"/>
          <p:cNvPicPr preferRelativeResize="0"/>
          <p:nvPr/>
        </p:nvPicPr>
        <p:blipFill rotWithShape="1">
          <a:blip r:embed="rId3">
            <a:alphaModFix/>
          </a:blip>
          <a:srcRect b="0" l="0" r="46184" t="0"/>
          <a:stretch/>
        </p:blipFill>
        <p:spPr>
          <a:xfrm>
            <a:off x="6319197" y="3292575"/>
            <a:ext cx="819378" cy="1522600"/>
          </a:xfrm>
          <a:prstGeom prst="rect">
            <a:avLst/>
          </a:prstGeom>
          <a:noFill/>
          <a:ln>
            <a:noFill/>
          </a:ln>
        </p:spPr>
      </p:pic>
      <p:sp>
        <p:nvSpPr>
          <p:cNvPr id="216" name="Google Shape;216;p27"/>
          <p:cNvSpPr txBox="1"/>
          <p:nvPr/>
        </p:nvSpPr>
        <p:spPr>
          <a:xfrm>
            <a:off x="5652675" y="3653825"/>
            <a:ext cx="801600" cy="8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Helvetica Neue"/>
                <a:ea typeface="Helvetica Neue"/>
                <a:cs typeface="Helvetica Neue"/>
                <a:sym typeface="Helvetica Neue"/>
              </a:rPr>
              <a:t>(231, T) feature vector</a:t>
            </a:r>
            <a:endParaRPr b="1">
              <a:latin typeface="Helvetica Neue"/>
              <a:ea typeface="Helvetica Neue"/>
              <a:cs typeface="Helvetica Neue"/>
              <a:sym typeface="Helvetica Neue"/>
            </a:endParaRPr>
          </a:p>
        </p:txBody>
      </p:sp>
      <p:sp>
        <p:nvSpPr>
          <p:cNvPr id="217" name="Google Shape;217;p27"/>
          <p:cNvSpPr/>
          <p:nvPr/>
        </p:nvSpPr>
        <p:spPr>
          <a:xfrm>
            <a:off x="7138575" y="3292575"/>
            <a:ext cx="1051500" cy="334800"/>
          </a:xfrm>
          <a:prstGeom prst="rect">
            <a:avLst/>
          </a:prstGeom>
          <a:solidFill>
            <a:srgbClr val="D9EAD3"/>
          </a:solidFill>
          <a:ln cap="flat" cmpd="sng" w="4350">
            <a:solidFill>
              <a:schemeClr val="dk2"/>
            </a:solidFill>
            <a:prstDash val="solid"/>
            <a:round/>
            <a:headEnd len="sm" w="sm" type="none"/>
            <a:tailEnd len="sm" w="sm" type="none"/>
          </a:ln>
        </p:spPr>
        <p:txBody>
          <a:bodyPr anchorCtr="0" anchor="ctr" bIns="41675" lIns="41675" spcFirstLastPara="1" rIns="41675" wrap="square" tIns="41675">
            <a:noAutofit/>
          </a:bodyPr>
          <a:lstStyle/>
          <a:p>
            <a:pPr indent="0" lvl="0" marL="0" rtl="0" algn="ctr">
              <a:spcBef>
                <a:spcPts val="0"/>
              </a:spcBef>
              <a:spcAft>
                <a:spcPts val="0"/>
              </a:spcAft>
              <a:buNone/>
            </a:pPr>
            <a:r>
              <a:rPr b="1" lang="en" sz="638">
                <a:latin typeface="Helvetica Neue"/>
                <a:ea typeface="Helvetica Neue"/>
                <a:cs typeface="Helvetica Neue"/>
                <a:sym typeface="Helvetica Neue"/>
              </a:rPr>
              <a:t>static</a:t>
            </a:r>
            <a:r>
              <a:rPr lang="en" sz="638">
                <a:latin typeface="Helvetica Neue"/>
                <a:ea typeface="Helvetica Neue"/>
                <a:cs typeface="Helvetica Neue"/>
                <a:sym typeface="Helvetica Neue"/>
              </a:rPr>
              <a:t> PCEN</a:t>
            </a:r>
            <a:endParaRPr sz="638">
              <a:latin typeface="Helvetica Neue"/>
              <a:ea typeface="Helvetica Neue"/>
              <a:cs typeface="Helvetica Neue"/>
              <a:sym typeface="Helvetica Neue"/>
            </a:endParaRPr>
          </a:p>
          <a:p>
            <a:pPr indent="0" lvl="0" marL="0" rtl="0" algn="ctr">
              <a:spcBef>
                <a:spcPts val="0"/>
              </a:spcBef>
              <a:spcAft>
                <a:spcPts val="0"/>
              </a:spcAft>
              <a:buNone/>
            </a:pPr>
            <a:r>
              <a:rPr lang="en" sz="638">
                <a:latin typeface="Helvetica Neue"/>
                <a:ea typeface="Helvetica Neue"/>
                <a:cs typeface="Helvetica Neue"/>
                <a:sym typeface="Helvetica Neue"/>
              </a:rPr>
              <a:t>(64, T)</a:t>
            </a:r>
            <a:endParaRPr sz="638">
              <a:latin typeface="Helvetica Neue"/>
              <a:ea typeface="Helvetica Neue"/>
              <a:cs typeface="Helvetica Neue"/>
              <a:sym typeface="Helvetica Neue"/>
            </a:endParaRPr>
          </a:p>
        </p:txBody>
      </p:sp>
      <p:sp>
        <p:nvSpPr>
          <p:cNvPr id="218" name="Google Shape;218;p27"/>
          <p:cNvSpPr/>
          <p:nvPr/>
        </p:nvSpPr>
        <p:spPr>
          <a:xfrm>
            <a:off x="7138575" y="3627355"/>
            <a:ext cx="1051500" cy="334800"/>
          </a:xfrm>
          <a:prstGeom prst="rect">
            <a:avLst/>
          </a:prstGeom>
          <a:solidFill>
            <a:srgbClr val="B6D7A8"/>
          </a:solidFill>
          <a:ln cap="flat" cmpd="sng" w="4350">
            <a:solidFill>
              <a:schemeClr val="dk2"/>
            </a:solidFill>
            <a:prstDash val="solid"/>
            <a:round/>
            <a:headEnd len="sm" w="sm" type="none"/>
            <a:tailEnd len="sm" w="sm" type="none"/>
          </a:ln>
        </p:spPr>
        <p:txBody>
          <a:bodyPr anchorCtr="0" anchor="ctr" bIns="41675" lIns="41675" spcFirstLastPara="1" rIns="41675" wrap="square" tIns="41675">
            <a:noAutofit/>
          </a:bodyPr>
          <a:lstStyle/>
          <a:p>
            <a:pPr indent="0" lvl="0" marL="0" rtl="0" algn="ctr">
              <a:spcBef>
                <a:spcPts val="0"/>
              </a:spcBef>
              <a:spcAft>
                <a:spcPts val="0"/>
              </a:spcAft>
              <a:buNone/>
            </a:pPr>
            <a:r>
              <a:rPr b="1" lang="en" sz="638">
                <a:latin typeface="Helvetica Neue"/>
                <a:ea typeface="Helvetica Neue"/>
                <a:cs typeface="Helvetica Neue"/>
                <a:sym typeface="Helvetica Neue"/>
              </a:rPr>
              <a:t>delta</a:t>
            </a:r>
            <a:r>
              <a:rPr lang="en" sz="638">
                <a:latin typeface="Helvetica Neue"/>
                <a:ea typeface="Helvetica Neue"/>
                <a:cs typeface="Helvetica Neue"/>
                <a:sym typeface="Helvetica Neue"/>
              </a:rPr>
              <a:t> PCEN</a:t>
            </a:r>
            <a:endParaRPr sz="638">
              <a:latin typeface="Helvetica Neue"/>
              <a:ea typeface="Helvetica Neue"/>
              <a:cs typeface="Helvetica Neue"/>
              <a:sym typeface="Helvetica Neue"/>
            </a:endParaRPr>
          </a:p>
          <a:p>
            <a:pPr indent="0" lvl="0" marL="0" rtl="0" algn="ctr">
              <a:spcBef>
                <a:spcPts val="0"/>
              </a:spcBef>
              <a:spcAft>
                <a:spcPts val="0"/>
              </a:spcAft>
              <a:buNone/>
            </a:pPr>
            <a:r>
              <a:rPr lang="en" sz="638">
                <a:latin typeface="Helvetica Neue"/>
                <a:ea typeface="Helvetica Neue"/>
                <a:cs typeface="Helvetica Neue"/>
                <a:sym typeface="Helvetica Neue"/>
              </a:rPr>
              <a:t>(64, T)</a:t>
            </a:r>
            <a:endParaRPr sz="638">
              <a:latin typeface="Helvetica Neue"/>
              <a:ea typeface="Helvetica Neue"/>
              <a:cs typeface="Helvetica Neue"/>
              <a:sym typeface="Helvetica Neue"/>
            </a:endParaRPr>
          </a:p>
        </p:txBody>
      </p:sp>
      <p:sp>
        <p:nvSpPr>
          <p:cNvPr id="219" name="Google Shape;219;p27"/>
          <p:cNvSpPr/>
          <p:nvPr/>
        </p:nvSpPr>
        <p:spPr>
          <a:xfrm>
            <a:off x="7138575" y="3962134"/>
            <a:ext cx="1051500" cy="334800"/>
          </a:xfrm>
          <a:prstGeom prst="rect">
            <a:avLst/>
          </a:prstGeom>
          <a:solidFill>
            <a:srgbClr val="93C47D"/>
          </a:solidFill>
          <a:ln cap="flat" cmpd="sng" w="4350">
            <a:solidFill>
              <a:schemeClr val="dk2"/>
            </a:solidFill>
            <a:prstDash val="solid"/>
            <a:round/>
            <a:headEnd len="sm" w="sm" type="none"/>
            <a:tailEnd len="sm" w="sm" type="none"/>
          </a:ln>
        </p:spPr>
        <p:txBody>
          <a:bodyPr anchorCtr="0" anchor="ctr" bIns="41675" lIns="41675" spcFirstLastPara="1" rIns="41675" wrap="square" tIns="41675">
            <a:noAutofit/>
          </a:bodyPr>
          <a:lstStyle/>
          <a:p>
            <a:pPr indent="0" lvl="0" marL="0" rtl="0" algn="ctr">
              <a:spcBef>
                <a:spcPts val="0"/>
              </a:spcBef>
              <a:spcAft>
                <a:spcPts val="0"/>
              </a:spcAft>
              <a:buNone/>
            </a:pPr>
            <a:r>
              <a:rPr b="1" lang="en" sz="638">
                <a:latin typeface="Helvetica Neue"/>
                <a:ea typeface="Helvetica Neue"/>
                <a:cs typeface="Helvetica Neue"/>
                <a:sym typeface="Helvetica Neue"/>
              </a:rPr>
              <a:t>delta-delta </a:t>
            </a:r>
            <a:r>
              <a:rPr lang="en" sz="638">
                <a:latin typeface="Helvetica Neue"/>
                <a:ea typeface="Helvetica Neue"/>
                <a:cs typeface="Helvetica Neue"/>
                <a:sym typeface="Helvetica Neue"/>
              </a:rPr>
              <a:t>PCEN</a:t>
            </a:r>
            <a:endParaRPr sz="638">
              <a:latin typeface="Helvetica Neue"/>
              <a:ea typeface="Helvetica Neue"/>
              <a:cs typeface="Helvetica Neue"/>
              <a:sym typeface="Helvetica Neue"/>
            </a:endParaRPr>
          </a:p>
          <a:p>
            <a:pPr indent="0" lvl="0" marL="0" rtl="0" algn="ctr">
              <a:spcBef>
                <a:spcPts val="0"/>
              </a:spcBef>
              <a:spcAft>
                <a:spcPts val="0"/>
              </a:spcAft>
              <a:buNone/>
            </a:pPr>
            <a:r>
              <a:rPr lang="en" sz="638">
                <a:latin typeface="Helvetica Neue"/>
                <a:ea typeface="Helvetica Neue"/>
                <a:cs typeface="Helvetica Neue"/>
                <a:sym typeface="Helvetica Neue"/>
              </a:rPr>
              <a:t>(64, T)</a:t>
            </a:r>
            <a:endParaRPr sz="638">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nvSpPr>
        <p:spPr>
          <a:xfrm>
            <a:off x="152400" y="236725"/>
            <a:ext cx="30000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2800">
                <a:solidFill>
                  <a:srgbClr val="58595B"/>
                </a:solidFill>
                <a:latin typeface="Helvetica Neue"/>
                <a:ea typeface="Helvetica Neue"/>
                <a:cs typeface="Helvetica Neue"/>
                <a:sym typeface="Helvetica Neue"/>
              </a:rPr>
              <a:t>Results</a:t>
            </a:r>
            <a:endParaRPr b="1" sz="2800">
              <a:solidFill>
                <a:srgbClr val="58595B"/>
              </a:solidFill>
              <a:latin typeface="Helvetica Neue"/>
              <a:ea typeface="Helvetica Neue"/>
              <a:cs typeface="Helvetica Neue"/>
              <a:sym typeface="Helvetica Neue"/>
            </a:endParaRPr>
          </a:p>
        </p:txBody>
      </p:sp>
      <p:graphicFrame>
        <p:nvGraphicFramePr>
          <p:cNvPr id="225" name="Google Shape;225;p28"/>
          <p:cNvGraphicFramePr/>
          <p:nvPr/>
        </p:nvGraphicFramePr>
        <p:xfrm>
          <a:off x="3352250" y="1059000"/>
          <a:ext cx="3000000" cy="3000000"/>
        </p:xfrm>
        <a:graphic>
          <a:graphicData uri="http://schemas.openxmlformats.org/drawingml/2006/table">
            <a:tbl>
              <a:tblPr>
                <a:noFill/>
                <a:tableStyleId>{84CF5873-4354-4C39-A1E6-42D8CE9EEDEF}</a:tableStyleId>
              </a:tblPr>
              <a:tblGrid>
                <a:gridCol w="1495175"/>
                <a:gridCol w="944300"/>
              </a:tblGrid>
              <a:tr h="339425">
                <a:tc>
                  <a:txBody>
                    <a:bodyPr/>
                    <a:lstStyle/>
                    <a:p>
                      <a:pPr indent="0" lvl="0" marL="0" rtl="0" algn="l">
                        <a:spcBef>
                          <a:spcPts val="0"/>
                        </a:spcBef>
                        <a:spcAft>
                          <a:spcPts val="0"/>
                        </a:spcAft>
                        <a:buNone/>
                      </a:pPr>
                      <a:r>
                        <a:rPr b="1" lang="en" sz="1000"/>
                        <a:t>Dataset</a:t>
                      </a:r>
                      <a:endParaRPr b="1"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t>Accuracy</a:t>
                      </a:r>
                      <a:endParaRPr b="1"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39425">
                <a:tc>
                  <a:txBody>
                    <a:bodyPr/>
                    <a:lstStyle/>
                    <a:p>
                      <a:pPr indent="0" lvl="0" marL="0" rtl="0" algn="l">
                        <a:spcBef>
                          <a:spcPts val="0"/>
                        </a:spcBef>
                        <a:spcAft>
                          <a:spcPts val="0"/>
                        </a:spcAft>
                        <a:buNone/>
                      </a:pPr>
                      <a:r>
                        <a:rPr lang="en" sz="1000"/>
                        <a:t>Test Clean</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t>98.67%</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39425">
                <a:tc>
                  <a:txBody>
                    <a:bodyPr/>
                    <a:lstStyle/>
                    <a:p>
                      <a:pPr indent="0" lvl="0" marL="0" rtl="0" algn="l">
                        <a:spcBef>
                          <a:spcPts val="0"/>
                        </a:spcBef>
                        <a:spcAft>
                          <a:spcPts val="0"/>
                        </a:spcAft>
                        <a:buNone/>
                      </a:pPr>
                      <a:r>
                        <a:rPr lang="en" sz="1000"/>
                        <a:t>Test Noisy 10dB</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t>91.67%</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39425">
                <a:tc>
                  <a:txBody>
                    <a:bodyPr/>
                    <a:lstStyle/>
                    <a:p>
                      <a:pPr indent="0" lvl="0" marL="0" rtl="0" algn="l">
                        <a:spcBef>
                          <a:spcPts val="0"/>
                        </a:spcBef>
                        <a:spcAft>
                          <a:spcPts val="0"/>
                        </a:spcAft>
                        <a:buNone/>
                      </a:pPr>
                      <a:r>
                        <a:rPr lang="en" sz="1000"/>
                        <a:t>Test Noisy 5dB</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t>81.00%</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226" name="Google Shape;226;p28" title="Screenshot 2026-03-10 at 5.37.59 AM.png"/>
          <p:cNvPicPr preferRelativeResize="0"/>
          <p:nvPr/>
        </p:nvPicPr>
        <p:blipFill>
          <a:blip r:embed="rId3">
            <a:alphaModFix/>
          </a:blip>
          <a:stretch>
            <a:fillRect/>
          </a:stretch>
        </p:blipFill>
        <p:spPr>
          <a:xfrm>
            <a:off x="3437222" y="2664380"/>
            <a:ext cx="2269525" cy="2049610"/>
          </a:xfrm>
          <a:prstGeom prst="rect">
            <a:avLst/>
          </a:prstGeom>
          <a:noFill/>
          <a:ln>
            <a:noFill/>
          </a:ln>
        </p:spPr>
      </p:pic>
      <p:pic>
        <p:nvPicPr>
          <p:cNvPr id="227" name="Google Shape;227;p28" title="Screenshot 2026-03-10 at 5.37.52 AM.png"/>
          <p:cNvPicPr preferRelativeResize="0"/>
          <p:nvPr/>
        </p:nvPicPr>
        <p:blipFill>
          <a:blip r:embed="rId4">
            <a:alphaModFix/>
          </a:blip>
          <a:stretch>
            <a:fillRect/>
          </a:stretch>
        </p:blipFill>
        <p:spPr>
          <a:xfrm>
            <a:off x="6075475" y="2627975"/>
            <a:ext cx="2315749" cy="2122400"/>
          </a:xfrm>
          <a:prstGeom prst="rect">
            <a:avLst/>
          </a:prstGeom>
          <a:noFill/>
          <a:ln>
            <a:noFill/>
          </a:ln>
        </p:spPr>
      </p:pic>
      <p:pic>
        <p:nvPicPr>
          <p:cNvPr id="228" name="Google Shape;228;p28" title="Screenshot 2026-03-10 at 5.37.45 AM.png"/>
          <p:cNvPicPr preferRelativeResize="0"/>
          <p:nvPr/>
        </p:nvPicPr>
        <p:blipFill>
          <a:blip r:embed="rId5">
            <a:alphaModFix/>
          </a:blip>
          <a:stretch>
            <a:fillRect/>
          </a:stretch>
        </p:blipFill>
        <p:spPr>
          <a:xfrm>
            <a:off x="798975" y="2655375"/>
            <a:ext cx="2269532" cy="20676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nvSpPr>
        <p:spPr>
          <a:xfrm>
            <a:off x="152400" y="236725"/>
            <a:ext cx="30000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2800">
                <a:solidFill>
                  <a:srgbClr val="58595B"/>
                </a:solidFill>
                <a:latin typeface="Helvetica Neue"/>
                <a:ea typeface="Helvetica Neue"/>
                <a:cs typeface="Helvetica Neue"/>
                <a:sym typeface="Helvetica Neue"/>
              </a:rPr>
              <a:t>Results</a:t>
            </a:r>
            <a:endParaRPr b="1" sz="2800">
              <a:solidFill>
                <a:srgbClr val="58595B"/>
              </a:solidFill>
              <a:latin typeface="Helvetica Neue"/>
              <a:ea typeface="Helvetica Neue"/>
              <a:cs typeface="Helvetica Neue"/>
              <a:sym typeface="Helvetica Neue"/>
            </a:endParaRPr>
          </a:p>
        </p:txBody>
      </p:sp>
      <p:pic>
        <p:nvPicPr>
          <p:cNvPr id="234" name="Google Shape;234;p29" title="output-5.png"/>
          <p:cNvPicPr preferRelativeResize="0"/>
          <p:nvPr/>
        </p:nvPicPr>
        <p:blipFill>
          <a:blip r:embed="rId3">
            <a:alphaModFix/>
          </a:blip>
          <a:stretch>
            <a:fillRect/>
          </a:stretch>
        </p:blipFill>
        <p:spPr>
          <a:xfrm>
            <a:off x="1202414" y="920075"/>
            <a:ext cx="6739175" cy="3797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resentation-01-light">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